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Lst>
  <p:notesMasterIdLst>
    <p:notesMasterId r:id="rId6"/>
  </p:notesMasterIdLst>
  <p:sldSz cx="14630400" cy="8229600"/>
  <p:notesSz cx="8229600" cy="14630400"/>
  <p:embeddedFontLst>
    <p:embeddedFont>
      <p:font typeface="Unbounded"/>
      <p:regular r:id="rId11"/>
    </p:embeddedFont>
    <p:embeddedFont>
      <p:font typeface="Unbounded"/>
      <p:regular r:id="rId12"/>
    </p:embeddedFont>
    <p:embeddedFont>
      <p:font typeface="Open Sans"/>
      <p:regular r:id="rId13"/>
    </p:embeddedFont>
    <p:embeddedFont>
      <p:font typeface="Open Sans"/>
      <p:regular r:id="rId14"/>
    </p:embeddedFont>
    <p:embeddedFont>
      <p:font typeface="Open Sans"/>
      <p:regular r:id="rId15"/>
    </p:embeddedFont>
    <p:embeddedFont>
      <p:font typeface="Open Sans"/>
      <p:regular r:id="rId16"/>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font" Target="fonts/font1.fntdata"/><Relationship Id="rId12" Type="http://schemas.openxmlformats.org/officeDocument/2006/relationships/font" Target="fonts/font2.fntdata"/><Relationship Id="rId13" Type="http://schemas.openxmlformats.org/officeDocument/2006/relationships/font" Target="fonts/font3.fntdata"/><Relationship Id="rId14" Type="http://schemas.openxmlformats.org/officeDocument/2006/relationships/font" Target="fonts/font4.fntdata"/><Relationship Id="rId15" Type="http://schemas.openxmlformats.org/officeDocument/2006/relationships/font" Target="fonts/font5.fntdata"/><Relationship Id="rId16"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4.png"/><Relationship Id="rId5" Type="http://schemas.openxmlformats.org/officeDocument/2006/relationships/image" Target="../media/image-3-5.svg"/><Relationship Id="rId6" Type="http://schemas.openxmlformats.org/officeDocument/2006/relationships/image" Target="../media/image-3-6.png"/><Relationship Id="rId7" Type="http://schemas.openxmlformats.org/officeDocument/2006/relationships/image" Target="../media/image-3-7.svg"/><Relationship Id="rId8" Type="http://schemas.openxmlformats.org/officeDocument/2006/relationships/slideLayout" Target="../slideLayouts/slideLayout4.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789986"/>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Name :Cheryl Achieng  RegNo:C027-01-2630/2021</a:t>
            </a:r>
            <a:endParaRPr lang="en-US" sz="1750" dirty="0"/>
          </a:p>
        </p:txBody>
      </p:sp>
      <p:sp>
        <p:nvSpPr>
          <p:cNvPr id="4" name="Text 1"/>
          <p:cNvSpPr/>
          <p:nvPr/>
        </p:nvSpPr>
        <p:spPr>
          <a:xfrm>
            <a:off x="793790" y="2379702"/>
            <a:ext cx="7556421" cy="2835116"/>
          </a:xfrm>
          <a:prstGeom prst="rect">
            <a:avLst/>
          </a:prstGeom>
          <a:noFill/>
          <a:ln/>
        </p:spPr>
        <p:txBody>
          <a:bodyPr wrap="square" lIns="0" tIns="0" rIns="0" bIns="0" rtlCol="0" anchor="t"/>
          <a:lstStyle/>
          <a:p>
            <a:pPr algn="l" indent="0" marL="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The Rhythm of a Continent: African Music's Enduring Impact</a:t>
            </a:r>
            <a:endParaRPr lang="en-US" sz="4450" dirty="0"/>
          </a:p>
        </p:txBody>
      </p:sp>
      <p:sp>
        <p:nvSpPr>
          <p:cNvPr id="5" name="Text 2"/>
          <p:cNvSpPr/>
          <p:nvPr/>
        </p:nvSpPr>
        <p:spPr>
          <a:xfrm>
            <a:off x="793790" y="5554980"/>
            <a:ext cx="7556421" cy="1088708"/>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African music is more than just sound; it's the heartbeat of culture, deeply interwoven with leadership, social cohesion, and societal transformation. Join us on a journey to explore its profound influence.</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52450" y="434102"/>
            <a:ext cx="3474482" cy="246578"/>
          </a:xfrm>
          <a:prstGeom prst="rect">
            <a:avLst/>
          </a:prstGeom>
          <a:noFill/>
          <a:ln/>
        </p:spPr>
        <p:txBody>
          <a:bodyPr wrap="none" lIns="0" tIns="0" rIns="0" bIns="0" rtlCol="0" anchor="t"/>
          <a:lstStyle/>
          <a:p>
            <a:pPr algn="l" indent="0" marL="0">
              <a:lnSpc>
                <a:spcPts val="1900"/>
              </a:lnSpc>
              <a:buNone/>
            </a:pPr>
            <a:r>
              <a:rPr lang="en-US" sz="1550" b="1" dirty="0">
                <a:solidFill>
                  <a:srgbClr val="333F70"/>
                </a:solidFill>
                <a:latin typeface="Unbounded Bold" pitchFamily="34" charset="0"/>
                <a:ea typeface="Unbounded Bold" pitchFamily="34" charset="-122"/>
                <a:cs typeface="Unbounded Bold" pitchFamily="34" charset="-120"/>
              </a:rPr>
              <a:t>THE VOICE OF A CONTINENT</a:t>
            </a:r>
            <a:endParaRPr lang="en-US" sz="1550" dirty="0"/>
          </a:p>
        </p:txBody>
      </p:sp>
      <p:sp>
        <p:nvSpPr>
          <p:cNvPr id="3" name="Shape 1"/>
          <p:cNvSpPr/>
          <p:nvPr/>
        </p:nvSpPr>
        <p:spPr>
          <a:xfrm>
            <a:off x="552450" y="900351"/>
            <a:ext cx="1009055" cy="265867"/>
          </a:xfrm>
          <a:prstGeom prst="roundRect">
            <a:avLst>
              <a:gd name="adj" fmla="val 19950"/>
            </a:avLst>
          </a:prstGeom>
          <a:solidFill>
            <a:srgbClr val="D6F5EE"/>
          </a:solidFill>
          <a:ln/>
        </p:spPr>
      </p:sp>
      <p:sp>
        <p:nvSpPr>
          <p:cNvPr id="4" name="Text 2"/>
          <p:cNvSpPr/>
          <p:nvPr/>
        </p:nvSpPr>
        <p:spPr>
          <a:xfrm>
            <a:off x="647105" y="947618"/>
            <a:ext cx="819745" cy="171331"/>
          </a:xfrm>
          <a:prstGeom prst="rect">
            <a:avLst/>
          </a:prstGeom>
          <a:noFill/>
          <a:ln/>
        </p:spPr>
        <p:txBody>
          <a:bodyPr wrap="none" lIns="0" tIns="0" rIns="0" bIns="0" rtlCol="0" anchor="t"/>
          <a:lstStyle/>
          <a:p>
            <a:pPr algn="l" indent="0" marL="0">
              <a:lnSpc>
                <a:spcPts val="1300"/>
              </a:lnSpc>
              <a:buNone/>
            </a:pPr>
            <a:r>
              <a:rPr lang="en-US" sz="950" dirty="0">
                <a:solidFill>
                  <a:srgbClr val="333F70"/>
                </a:solidFill>
                <a:latin typeface="Open Sans" pitchFamily="34" charset="0"/>
                <a:ea typeface="Open Sans" pitchFamily="34" charset="-122"/>
                <a:cs typeface="Open Sans" pitchFamily="34" charset="-120"/>
              </a:rPr>
              <a:t>FOUNDATION</a:t>
            </a:r>
            <a:endParaRPr lang="en-US" sz="950" dirty="0"/>
          </a:p>
        </p:txBody>
      </p:sp>
      <p:sp>
        <p:nvSpPr>
          <p:cNvPr id="5" name="Text 3"/>
          <p:cNvSpPr/>
          <p:nvPr/>
        </p:nvSpPr>
        <p:spPr>
          <a:xfrm>
            <a:off x="552450" y="1210151"/>
            <a:ext cx="8970645" cy="394692"/>
          </a:xfrm>
          <a:prstGeom prst="rect">
            <a:avLst/>
          </a:prstGeom>
          <a:noFill/>
          <a:ln/>
        </p:spPr>
        <p:txBody>
          <a:bodyPr wrap="none" lIns="0" tIns="0" rIns="0" bIns="0" rtlCol="0" anchor="t"/>
          <a:lstStyle/>
          <a:p>
            <a:pPr algn="l" indent="0" marL="0">
              <a:lnSpc>
                <a:spcPts val="3100"/>
              </a:lnSpc>
              <a:buNone/>
            </a:pPr>
            <a:r>
              <a:rPr lang="en-US" sz="2450" b="1" dirty="0">
                <a:solidFill>
                  <a:srgbClr val="333F70"/>
                </a:solidFill>
                <a:latin typeface="Unbounded Bold" pitchFamily="34" charset="0"/>
                <a:ea typeface="Unbounded Bold" pitchFamily="34" charset="-122"/>
                <a:cs typeface="Unbounded Bold" pitchFamily="34" charset="-120"/>
              </a:rPr>
              <a:t>Music: The Unifying Force in African Societies</a:t>
            </a:r>
            <a:endParaRPr lang="en-US" sz="2450" dirty="0"/>
          </a:p>
        </p:txBody>
      </p:sp>
      <p:sp>
        <p:nvSpPr>
          <p:cNvPr id="6" name="Text 4"/>
          <p:cNvSpPr/>
          <p:nvPr/>
        </p:nvSpPr>
        <p:spPr>
          <a:xfrm>
            <a:off x="552450" y="3559373"/>
            <a:ext cx="4483537" cy="1499354"/>
          </a:xfrm>
          <a:prstGeom prst="rect">
            <a:avLst/>
          </a:prstGeom>
          <a:noFill/>
          <a:ln/>
        </p:spPr>
        <p:txBody>
          <a:bodyPr wrap="square" lIns="0" tIns="0" rIns="0" bIns="0" rtlCol="0" anchor="t"/>
          <a:lstStyle/>
          <a:p>
            <a:pPr algn="l" indent="0" marL="0">
              <a:lnSpc>
                <a:spcPts val="1650"/>
              </a:lnSpc>
              <a:buNone/>
            </a:pPr>
            <a:r>
              <a:rPr lang="en-US" sz="1200" dirty="0">
                <a:solidFill>
                  <a:srgbClr val="333F70"/>
                </a:solidFill>
                <a:latin typeface="Open Sans" pitchFamily="34" charset="0"/>
                <a:ea typeface="Open Sans" pitchFamily="34" charset="-122"/>
                <a:cs typeface="Open Sans" pitchFamily="34" charset="-120"/>
              </a:rPr>
              <a:t>Traditionally, African music transcends mere entertainment, serving as a powerful medium for communication, historical preservation, and even governance. Through its diverse forms—from rhythmic drumming to melodic praise songs and captivating storytelling—music has always played a central role in reinforcing leadership, fostering unity, and strengthening the collective identity of communities.</a:t>
            </a:r>
            <a:endParaRPr lang="en-US" sz="1200" dirty="0"/>
          </a:p>
        </p:txBody>
      </p:sp>
      <p:pic>
        <p:nvPicPr>
          <p:cNvPr id="7" name="Image 0" descr="preencoded.png">    </p:cNvPr>
          <p:cNvPicPr>
            <a:picLocks noChangeAspect="1"/>
          </p:cNvPicPr>
          <p:nvPr/>
        </p:nvPicPr>
        <p:blipFill>
          <a:blip r:embed="rId1"/>
          <a:stretch>
            <a:fillRect/>
          </a:stretch>
        </p:blipFill>
        <p:spPr>
          <a:xfrm>
            <a:off x="5428655" y="1893213"/>
            <a:ext cx="8656796" cy="4831675"/>
          </a:xfrm>
          <a:prstGeom prst="rect">
            <a:avLst/>
          </a:prstGeom>
        </p:spPr>
      </p:pic>
      <p:sp>
        <p:nvSpPr>
          <p:cNvPr id="8" name="Shape 5"/>
          <p:cNvSpPr/>
          <p:nvPr/>
        </p:nvSpPr>
        <p:spPr>
          <a:xfrm>
            <a:off x="552450" y="6972062"/>
            <a:ext cx="4435316" cy="887849"/>
          </a:xfrm>
          <a:prstGeom prst="roundRect">
            <a:avLst>
              <a:gd name="adj" fmla="val 7468"/>
            </a:avLst>
          </a:prstGeom>
          <a:solidFill>
            <a:srgbClr val="FFFFFF"/>
          </a:solidFill>
          <a:ln w="22860">
            <a:solidFill>
              <a:srgbClr val="BCDBD4"/>
            </a:solidFill>
            <a:prstDash val="solid"/>
          </a:ln>
        </p:spPr>
      </p:sp>
      <p:sp>
        <p:nvSpPr>
          <p:cNvPr id="9" name="Text 6"/>
          <p:cNvSpPr/>
          <p:nvPr/>
        </p:nvSpPr>
        <p:spPr>
          <a:xfrm>
            <a:off x="733068" y="7152680"/>
            <a:ext cx="1973223" cy="246578"/>
          </a:xfrm>
          <a:prstGeom prst="rect">
            <a:avLst/>
          </a:prstGeom>
          <a:noFill/>
          <a:ln/>
        </p:spPr>
        <p:txBody>
          <a:bodyPr wrap="none" lIns="0" tIns="0" rIns="0" bIns="0" rtlCol="0" anchor="t"/>
          <a:lstStyle/>
          <a:p>
            <a:pPr algn="l" indent="0" marL="0">
              <a:lnSpc>
                <a:spcPts val="1900"/>
              </a:lnSpc>
              <a:buNone/>
            </a:pPr>
            <a:r>
              <a:rPr lang="en-US" sz="1550" b="1" dirty="0">
                <a:solidFill>
                  <a:srgbClr val="333F70"/>
                </a:solidFill>
                <a:latin typeface="Unbounded Bold" pitchFamily="34" charset="0"/>
                <a:ea typeface="Unbounded Bold" pitchFamily="34" charset="-122"/>
                <a:cs typeface="Unbounded Bold" pitchFamily="34" charset="-120"/>
              </a:rPr>
              <a:t>Praise Songs</a:t>
            </a:r>
            <a:endParaRPr lang="en-US" sz="1550" dirty="0"/>
          </a:p>
        </p:txBody>
      </p:sp>
      <p:sp>
        <p:nvSpPr>
          <p:cNvPr id="10" name="Text 7"/>
          <p:cNvSpPr/>
          <p:nvPr/>
        </p:nvSpPr>
        <p:spPr>
          <a:xfrm>
            <a:off x="733068" y="7465100"/>
            <a:ext cx="4074081" cy="214193"/>
          </a:xfrm>
          <a:prstGeom prst="rect">
            <a:avLst/>
          </a:prstGeom>
          <a:noFill/>
          <a:ln/>
        </p:spPr>
        <p:txBody>
          <a:bodyPr wrap="none" lIns="0" tIns="0" rIns="0" bIns="0" rtlCol="0" anchor="t"/>
          <a:lstStyle/>
          <a:p>
            <a:pPr algn="l" indent="0" marL="0">
              <a:lnSpc>
                <a:spcPts val="1650"/>
              </a:lnSpc>
              <a:buNone/>
            </a:pPr>
            <a:r>
              <a:rPr lang="en-US" sz="1200" dirty="0">
                <a:solidFill>
                  <a:srgbClr val="333F70"/>
                </a:solidFill>
                <a:latin typeface="Open Sans" pitchFamily="34" charset="0"/>
                <a:ea typeface="Open Sans" pitchFamily="34" charset="-122"/>
                <a:cs typeface="Open Sans" pitchFamily="34" charset="-120"/>
              </a:rPr>
              <a:t>Celebrating leaders and achievements.</a:t>
            </a:r>
            <a:endParaRPr lang="en-US" sz="1200" dirty="0"/>
          </a:p>
        </p:txBody>
      </p:sp>
      <p:sp>
        <p:nvSpPr>
          <p:cNvPr id="11" name="Shape 8"/>
          <p:cNvSpPr/>
          <p:nvPr/>
        </p:nvSpPr>
        <p:spPr>
          <a:xfrm>
            <a:off x="5097542" y="6972062"/>
            <a:ext cx="4435316" cy="887849"/>
          </a:xfrm>
          <a:prstGeom prst="roundRect">
            <a:avLst>
              <a:gd name="adj" fmla="val 7468"/>
            </a:avLst>
          </a:prstGeom>
          <a:solidFill>
            <a:srgbClr val="FFFFFF"/>
          </a:solidFill>
          <a:ln w="22860">
            <a:solidFill>
              <a:srgbClr val="BCDBD4"/>
            </a:solidFill>
            <a:prstDash val="solid"/>
          </a:ln>
        </p:spPr>
      </p:sp>
      <p:sp>
        <p:nvSpPr>
          <p:cNvPr id="12" name="Text 9"/>
          <p:cNvSpPr/>
          <p:nvPr/>
        </p:nvSpPr>
        <p:spPr>
          <a:xfrm>
            <a:off x="5278160" y="7152680"/>
            <a:ext cx="1973223" cy="246578"/>
          </a:xfrm>
          <a:prstGeom prst="rect">
            <a:avLst/>
          </a:prstGeom>
          <a:noFill/>
          <a:ln/>
        </p:spPr>
        <p:txBody>
          <a:bodyPr wrap="none" lIns="0" tIns="0" rIns="0" bIns="0" rtlCol="0" anchor="t"/>
          <a:lstStyle/>
          <a:p>
            <a:pPr algn="l" indent="0" marL="0">
              <a:lnSpc>
                <a:spcPts val="1900"/>
              </a:lnSpc>
              <a:buNone/>
            </a:pPr>
            <a:r>
              <a:rPr lang="en-US" sz="1550" b="1" dirty="0">
                <a:solidFill>
                  <a:srgbClr val="333F70"/>
                </a:solidFill>
                <a:latin typeface="Unbounded Bold" pitchFamily="34" charset="0"/>
                <a:ea typeface="Unbounded Bold" pitchFamily="34" charset="-122"/>
                <a:cs typeface="Unbounded Bold" pitchFamily="34" charset="-120"/>
              </a:rPr>
              <a:t>Storytelling</a:t>
            </a:r>
            <a:endParaRPr lang="en-US" sz="1550" dirty="0"/>
          </a:p>
        </p:txBody>
      </p:sp>
      <p:sp>
        <p:nvSpPr>
          <p:cNvPr id="13" name="Text 10"/>
          <p:cNvSpPr/>
          <p:nvPr/>
        </p:nvSpPr>
        <p:spPr>
          <a:xfrm>
            <a:off x="5278160" y="7465100"/>
            <a:ext cx="4074081" cy="214193"/>
          </a:xfrm>
          <a:prstGeom prst="rect">
            <a:avLst/>
          </a:prstGeom>
          <a:noFill/>
          <a:ln/>
        </p:spPr>
        <p:txBody>
          <a:bodyPr wrap="none" lIns="0" tIns="0" rIns="0" bIns="0" rtlCol="0" anchor="t"/>
          <a:lstStyle/>
          <a:p>
            <a:pPr algn="l" indent="0" marL="0">
              <a:lnSpc>
                <a:spcPts val="1650"/>
              </a:lnSpc>
              <a:buNone/>
            </a:pPr>
            <a:r>
              <a:rPr lang="en-US" sz="1200" dirty="0">
                <a:solidFill>
                  <a:srgbClr val="333F70"/>
                </a:solidFill>
                <a:latin typeface="Open Sans" pitchFamily="34" charset="0"/>
                <a:ea typeface="Open Sans" pitchFamily="34" charset="-122"/>
                <a:cs typeface="Open Sans" pitchFamily="34" charset="-120"/>
              </a:rPr>
              <a:t>Preserving history and wisdom.</a:t>
            </a:r>
            <a:endParaRPr lang="en-US" sz="1200" dirty="0"/>
          </a:p>
        </p:txBody>
      </p:sp>
      <p:sp>
        <p:nvSpPr>
          <p:cNvPr id="14" name="Shape 11"/>
          <p:cNvSpPr/>
          <p:nvPr/>
        </p:nvSpPr>
        <p:spPr>
          <a:xfrm>
            <a:off x="9642634" y="6972062"/>
            <a:ext cx="4435316" cy="887849"/>
          </a:xfrm>
          <a:prstGeom prst="roundRect">
            <a:avLst>
              <a:gd name="adj" fmla="val 7468"/>
            </a:avLst>
          </a:prstGeom>
          <a:solidFill>
            <a:srgbClr val="FFFFFF"/>
          </a:solidFill>
          <a:ln w="22860">
            <a:solidFill>
              <a:srgbClr val="BCDBD4"/>
            </a:solidFill>
            <a:prstDash val="solid"/>
          </a:ln>
        </p:spPr>
      </p:sp>
      <p:sp>
        <p:nvSpPr>
          <p:cNvPr id="15" name="Text 12"/>
          <p:cNvSpPr/>
          <p:nvPr/>
        </p:nvSpPr>
        <p:spPr>
          <a:xfrm>
            <a:off x="9823252" y="7152680"/>
            <a:ext cx="2523649" cy="246578"/>
          </a:xfrm>
          <a:prstGeom prst="rect">
            <a:avLst/>
          </a:prstGeom>
          <a:noFill/>
          <a:ln/>
        </p:spPr>
        <p:txBody>
          <a:bodyPr wrap="none" lIns="0" tIns="0" rIns="0" bIns="0" rtlCol="0" anchor="t"/>
          <a:lstStyle/>
          <a:p>
            <a:pPr algn="l" indent="0" marL="0">
              <a:lnSpc>
                <a:spcPts val="1900"/>
              </a:lnSpc>
              <a:buNone/>
            </a:pPr>
            <a:r>
              <a:rPr lang="en-US" sz="1550" b="1" dirty="0">
                <a:solidFill>
                  <a:srgbClr val="333F70"/>
                </a:solidFill>
                <a:latin typeface="Unbounded Bold" pitchFamily="34" charset="0"/>
                <a:ea typeface="Unbounded Bold" pitchFamily="34" charset="-122"/>
                <a:cs typeface="Unbounded Bold" pitchFamily="34" charset="-120"/>
              </a:rPr>
              <a:t>Communal Rhythms</a:t>
            </a:r>
            <a:endParaRPr lang="en-US" sz="1550" dirty="0"/>
          </a:p>
        </p:txBody>
      </p:sp>
      <p:sp>
        <p:nvSpPr>
          <p:cNvPr id="16" name="Text 13"/>
          <p:cNvSpPr/>
          <p:nvPr/>
        </p:nvSpPr>
        <p:spPr>
          <a:xfrm>
            <a:off x="9823252" y="7465100"/>
            <a:ext cx="4074081" cy="214193"/>
          </a:xfrm>
          <a:prstGeom prst="rect">
            <a:avLst/>
          </a:prstGeom>
          <a:noFill/>
          <a:ln/>
        </p:spPr>
        <p:txBody>
          <a:bodyPr wrap="none" lIns="0" tIns="0" rIns="0" bIns="0" rtlCol="0" anchor="t"/>
          <a:lstStyle/>
          <a:p>
            <a:pPr algn="l" indent="0" marL="0">
              <a:lnSpc>
                <a:spcPts val="1650"/>
              </a:lnSpc>
              <a:buNone/>
            </a:pPr>
            <a:r>
              <a:rPr lang="en-US" sz="1200" dirty="0">
                <a:solidFill>
                  <a:srgbClr val="333F70"/>
                </a:solidFill>
                <a:latin typeface="Open Sans" pitchFamily="34" charset="0"/>
                <a:ea typeface="Open Sans" pitchFamily="34" charset="-122"/>
                <a:cs typeface="Open Sans" pitchFamily="34" charset="-120"/>
              </a:rPr>
              <a:t>Uniting hearts and minds.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3765" y="476012"/>
            <a:ext cx="4100870" cy="265033"/>
          </a:xfrm>
          <a:prstGeom prst="rect">
            <a:avLst/>
          </a:prstGeom>
          <a:noFill/>
          <a:ln/>
        </p:spPr>
        <p:txBody>
          <a:bodyPr wrap="none" lIns="0" tIns="0" rIns="0" bIns="0" rtlCol="0" anchor="t"/>
          <a:lstStyle/>
          <a:p>
            <a:pPr algn="l" indent="0" marL="0">
              <a:lnSpc>
                <a:spcPts val="2050"/>
              </a:lnSpc>
              <a:buNone/>
            </a:pPr>
            <a:r>
              <a:rPr lang="en-US" sz="1650" b="1" dirty="0">
                <a:solidFill>
                  <a:srgbClr val="333F70"/>
                </a:solidFill>
                <a:latin typeface="Unbounded Bold" pitchFamily="34" charset="0"/>
                <a:ea typeface="Unbounded Bold" pitchFamily="34" charset="-122"/>
                <a:cs typeface="Unbounded Bold" pitchFamily="34" charset="-120"/>
              </a:rPr>
              <a:t>EVOLUTION &amp; EMPOWERMENT</a:t>
            </a:r>
            <a:endParaRPr lang="en-US" sz="1650" dirty="0"/>
          </a:p>
        </p:txBody>
      </p:sp>
      <p:sp>
        <p:nvSpPr>
          <p:cNvPr id="3" name="Shape 1"/>
          <p:cNvSpPr/>
          <p:nvPr/>
        </p:nvSpPr>
        <p:spPr>
          <a:xfrm>
            <a:off x="593765" y="994767"/>
            <a:ext cx="1411129" cy="291465"/>
          </a:xfrm>
          <a:prstGeom prst="roundRect">
            <a:avLst>
              <a:gd name="adj" fmla="val 19557"/>
            </a:avLst>
          </a:prstGeom>
          <a:solidFill>
            <a:srgbClr val="D6F5EE"/>
          </a:solidFill>
          <a:ln/>
        </p:spPr>
      </p:sp>
      <p:sp>
        <p:nvSpPr>
          <p:cNvPr id="4" name="Text 2"/>
          <p:cNvSpPr/>
          <p:nvPr/>
        </p:nvSpPr>
        <p:spPr>
          <a:xfrm>
            <a:off x="695444" y="1045607"/>
            <a:ext cx="1207770" cy="189786"/>
          </a:xfrm>
          <a:prstGeom prst="rect">
            <a:avLst/>
          </a:prstGeom>
          <a:noFill/>
          <a:ln/>
        </p:spPr>
        <p:txBody>
          <a:bodyPr wrap="none" lIns="0" tIns="0" rIns="0" bIns="0" rtlCol="0" anchor="t"/>
          <a:lstStyle/>
          <a:p>
            <a:pPr algn="l" indent="0" marL="0">
              <a:lnSpc>
                <a:spcPts val="1450"/>
              </a:lnSpc>
              <a:buNone/>
            </a:pPr>
            <a:r>
              <a:rPr lang="en-US" sz="1050" dirty="0">
                <a:solidFill>
                  <a:srgbClr val="333F70"/>
                </a:solidFill>
                <a:latin typeface="Open Sans" pitchFamily="34" charset="0"/>
                <a:ea typeface="Open Sans" pitchFamily="34" charset="-122"/>
                <a:cs typeface="Open Sans" pitchFamily="34" charset="-120"/>
              </a:rPr>
              <a:t>TRANSFORMATION</a:t>
            </a:r>
            <a:endParaRPr lang="en-US" sz="1050" dirty="0"/>
          </a:p>
        </p:txBody>
      </p:sp>
      <p:sp>
        <p:nvSpPr>
          <p:cNvPr id="5" name="Text 3"/>
          <p:cNvSpPr/>
          <p:nvPr/>
        </p:nvSpPr>
        <p:spPr>
          <a:xfrm>
            <a:off x="593765" y="1336953"/>
            <a:ext cx="10579656" cy="424101"/>
          </a:xfrm>
          <a:prstGeom prst="rect">
            <a:avLst/>
          </a:prstGeom>
          <a:noFill/>
          <a:ln/>
        </p:spPr>
        <p:txBody>
          <a:bodyPr wrap="none" lIns="0" tIns="0" rIns="0" bIns="0" rtlCol="0" anchor="t"/>
          <a:lstStyle/>
          <a:p>
            <a:pPr algn="l" indent="0" marL="0">
              <a:lnSpc>
                <a:spcPts val="3300"/>
              </a:lnSpc>
              <a:buNone/>
            </a:pPr>
            <a:r>
              <a:rPr lang="en-US" sz="2650" b="1" dirty="0">
                <a:solidFill>
                  <a:srgbClr val="333F70"/>
                </a:solidFill>
                <a:latin typeface="Unbounded Bold" pitchFamily="34" charset="0"/>
                <a:ea typeface="Unbounded Bold" pitchFamily="34" charset="-122"/>
                <a:cs typeface="Unbounded Bold" pitchFamily="34" charset="-120"/>
              </a:rPr>
              <a:t>Challenging Norms: Music and Gender Awareness</a:t>
            </a:r>
            <a:endParaRPr lang="en-US" sz="2650" dirty="0"/>
          </a:p>
        </p:txBody>
      </p:sp>
      <p:pic>
        <p:nvPicPr>
          <p:cNvPr id="6" name="Image 0" descr="preencoded.png">    </p:cNvPr>
          <p:cNvPicPr>
            <a:picLocks noChangeAspect="1"/>
          </p:cNvPicPr>
          <p:nvPr/>
        </p:nvPicPr>
        <p:blipFill>
          <a:blip r:embed="rId1"/>
          <a:stretch>
            <a:fillRect/>
          </a:stretch>
        </p:blipFill>
        <p:spPr>
          <a:xfrm>
            <a:off x="593765" y="2093952"/>
            <a:ext cx="8592979" cy="4796076"/>
          </a:xfrm>
          <a:prstGeom prst="rect">
            <a:avLst/>
          </a:prstGeom>
        </p:spPr>
      </p:pic>
      <p:sp>
        <p:nvSpPr>
          <p:cNvPr id="7" name="Text 4"/>
          <p:cNvSpPr/>
          <p:nvPr/>
        </p:nvSpPr>
        <p:spPr>
          <a:xfrm>
            <a:off x="9608225" y="3543300"/>
            <a:ext cx="4435912" cy="1897380"/>
          </a:xfrm>
          <a:prstGeom prst="rect">
            <a:avLst/>
          </a:prstGeom>
          <a:noFill/>
          <a:ln/>
        </p:spPr>
        <p:txBody>
          <a:bodyPr wrap="square" lIns="0" tIns="0" rIns="0" bIns="0" rtlCol="0" anchor="t"/>
          <a:lstStyle/>
          <a:p>
            <a:pPr algn="l" indent="0" marL="0">
              <a:lnSpc>
                <a:spcPts val="1850"/>
              </a:lnSpc>
              <a:buNone/>
            </a:pPr>
            <a:r>
              <a:rPr lang="en-US" sz="1300" dirty="0">
                <a:solidFill>
                  <a:srgbClr val="333F70"/>
                </a:solidFill>
                <a:latin typeface="Open Sans" pitchFamily="34" charset="0"/>
                <a:ea typeface="Open Sans" pitchFamily="34" charset="-122"/>
                <a:cs typeface="Open Sans" pitchFamily="34" charset="-120"/>
              </a:rPr>
              <a:t>While traditional music often mirrored existing gender roles—with certain instruments or performance styles reserved for men—contemporary African music is actively challenging these stereotypes. Today, female musicians are increasingly using their platforms to advocate for women’s rights, equality, and social justice, spearheading a movement towards greater gender awareness and inclusion.</a:t>
            </a:r>
            <a:endParaRPr lang="en-US" sz="1300" dirty="0"/>
          </a:p>
        </p:txBody>
      </p:sp>
      <p:pic>
        <p:nvPicPr>
          <p:cNvPr id="8"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7344" y="7180600"/>
            <a:ext cx="254437" cy="254437"/>
          </a:xfrm>
          <a:prstGeom prst="rect">
            <a:avLst/>
          </a:prstGeom>
        </p:spPr>
      </p:pic>
      <p:sp>
        <p:nvSpPr>
          <p:cNvPr id="9" name="Text 5"/>
          <p:cNvSpPr/>
          <p:nvPr/>
        </p:nvSpPr>
        <p:spPr>
          <a:xfrm>
            <a:off x="1144905" y="7175302"/>
            <a:ext cx="3003947" cy="265033"/>
          </a:xfrm>
          <a:prstGeom prst="rect">
            <a:avLst/>
          </a:prstGeom>
          <a:noFill/>
          <a:ln/>
        </p:spPr>
        <p:txBody>
          <a:bodyPr wrap="none" lIns="0" tIns="0" rIns="0" bIns="0" rtlCol="0" anchor="t"/>
          <a:lstStyle/>
          <a:p>
            <a:pPr algn="l" indent="0" marL="0">
              <a:lnSpc>
                <a:spcPts val="2050"/>
              </a:lnSpc>
              <a:buNone/>
            </a:pPr>
            <a:r>
              <a:rPr lang="en-US" sz="1650" b="1" dirty="0">
                <a:solidFill>
                  <a:srgbClr val="333F70"/>
                </a:solidFill>
                <a:latin typeface="Unbounded Bold" pitchFamily="34" charset="0"/>
                <a:ea typeface="Unbounded Bold" pitchFamily="34" charset="-122"/>
                <a:cs typeface="Unbounded Bold" pitchFamily="34" charset="-120"/>
              </a:rPr>
              <a:t>Advocacy Through Art</a:t>
            </a:r>
            <a:endParaRPr lang="en-US" sz="1650" dirty="0"/>
          </a:p>
        </p:txBody>
      </p:sp>
      <p:sp>
        <p:nvSpPr>
          <p:cNvPr id="10" name="Text 6"/>
          <p:cNvSpPr/>
          <p:nvPr/>
        </p:nvSpPr>
        <p:spPr>
          <a:xfrm>
            <a:off x="1144905" y="7516416"/>
            <a:ext cx="3824049" cy="237173"/>
          </a:xfrm>
          <a:prstGeom prst="rect">
            <a:avLst/>
          </a:prstGeom>
          <a:noFill/>
          <a:ln/>
        </p:spPr>
        <p:txBody>
          <a:bodyPr wrap="none" lIns="0" tIns="0" rIns="0" bIns="0" rtlCol="0" anchor="t"/>
          <a:lstStyle/>
          <a:p>
            <a:pPr algn="l" indent="0" marL="0">
              <a:lnSpc>
                <a:spcPts val="1850"/>
              </a:lnSpc>
              <a:buNone/>
            </a:pPr>
            <a:r>
              <a:rPr lang="en-US" sz="1300" dirty="0">
                <a:solidFill>
                  <a:srgbClr val="333F70"/>
                </a:solidFill>
                <a:latin typeface="Open Sans" pitchFamily="34" charset="0"/>
                <a:ea typeface="Open Sans" pitchFamily="34" charset="-122"/>
                <a:cs typeface="Open Sans" pitchFamily="34" charset="-120"/>
              </a:rPr>
              <a:t>Female artists amplify voices for change.</a:t>
            </a:r>
            <a:endParaRPr lang="en-US" sz="1300" dirty="0"/>
          </a:p>
        </p:txBody>
      </p:sp>
      <p:pic>
        <p:nvPicPr>
          <p:cNvPr id="11"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191125" y="7180600"/>
            <a:ext cx="254437" cy="254437"/>
          </a:xfrm>
          <a:prstGeom prst="rect">
            <a:avLst/>
          </a:prstGeom>
        </p:spPr>
      </p:pic>
      <p:sp>
        <p:nvSpPr>
          <p:cNvPr id="12" name="Text 7"/>
          <p:cNvSpPr/>
          <p:nvPr/>
        </p:nvSpPr>
        <p:spPr>
          <a:xfrm>
            <a:off x="5678686" y="7175302"/>
            <a:ext cx="2339102" cy="265033"/>
          </a:xfrm>
          <a:prstGeom prst="rect">
            <a:avLst/>
          </a:prstGeom>
          <a:noFill/>
          <a:ln/>
        </p:spPr>
        <p:txBody>
          <a:bodyPr wrap="none" lIns="0" tIns="0" rIns="0" bIns="0" rtlCol="0" anchor="t"/>
          <a:lstStyle/>
          <a:p>
            <a:pPr algn="l" indent="0" marL="0">
              <a:lnSpc>
                <a:spcPts val="2050"/>
              </a:lnSpc>
              <a:buNone/>
            </a:pPr>
            <a:r>
              <a:rPr lang="en-US" sz="1650" b="1" dirty="0">
                <a:solidFill>
                  <a:srgbClr val="333F70"/>
                </a:solidFill>
                <a:latin typeface="Unbounded Bold" pitchFamily="34" charset="0"/>
                <a:ea typeface="Unbounded Bold" pitchFamily="34" charset="-122"/>
                <a:cs typeface="Unbounded Bold" pitchFamily="34" charset="-120"/>
              </a:rPr>
              <a:t>Breaking Barriers</a:t>
            </a:r>
            <a:endParaRPr lang="en-US" sz="1650" dirty="0"/>
          </a:p>
        </p:txBody>
      </p:sp>
      <p:sp>
        <p:nvSpPr>
          <p:cNvPr id="13" name="Text 8"/>
          <p:cNvSpPr/>
          <p:nvPr/>
        </p:nvSpPr>
        <p:spPr>
          <a:xfrm>
            <a:off x="5678686" y="7516416"/>
            <a:ext cx="3824049" cy="237173"/>
          </a:xfrm>
          <a:prstGeom prst="rect">
            <a:avLst/>
          </a:prstGeom>
          <a:noFill/>
          <a:ln/>
        </p:spPr>
        <p:txBody>
          <a:bodyPr wrap="none" lIns="0" tIns="0" rIns="0" bIns="0" rtlCol="0" anchor="t"/>
          <a:lstStyle/>
          <a:p>
            <a:pPr algn="l" indent="0" marL="0">
              <a:lnSpc>
                <a:spcPts val="1850"/>
              </a:lnSpc>
              <a:buNone/>
            </a:pPr>
            <a:r>
              <a:rPr lang="en-US" sz="1300" dirty="0">
                <a:solidFill>
                  <a:srgbClr val="333F70"/>
                </a:solidFill>
                <a:latin typeface="Open Sans" pitchFamily="34" charset="0"/>
                <a:ea typeface="Open Sans" pitchFamily="34" charset="-122"/>
                <a:cs typeface="Open Sans" pitchFamily="34" charset="-120"/>
              </a:rPr>
              <a:t>Challenging traditional gender-specific roles.</a:t>
            </a:r>
            <a:endParaRPr lang="en-US" sz="1300" dirty="0"/>
          </a:p>
        </p:txBody>
      </p:sp>
      <p:pic>
        <p:nvPicPr>
          <p:cNvPr id="14"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724906" y="7180600"/>
            <a:ext cx="254437" cy="254437"/>
          </a:xfrm>
          <a:prstGeom prst="rect">
            <a:avLst/>
          </a:prstGeom>
        </p:spPr>
      </p:pic>
      <p:sp>
        <p:nvSpPr>
          <p:cNvPr id="15" name="Text 9"/>
          <p:cNvSpPr/>
          <p:nvPr/>
        </p:nvSpPr>
        <p:spPr>
          <a:xfrm>
            <a:off x="10212467" y="7175302"/>
            <a:ext cx="2564011" cy="265033"/>
          </a:xfrm>
          <a:prstGeom prst="rect">
            <a:avLst/>
          </a:prstGeom>
          <a:noFill/>
          <a:ln/>
        </p:spPr>
        <p:txBody>
          <a:bodyPr wrap="none" lIns="0" tIns="0" rIns="0" bIns="0" rtlCol="0" anchor="t"/>
          <a:lstStyle/>
          <a:p>
            <a:pPr algn="l" indent="0" marL="0">
              <a:lnSpc>
                <a:spcPts val="2050"/>
              </a:lnSpc>
              <a:buNone/>
            </a:pPr>
            <a:r>
              <a:rPr lang="en-US" sz="1650" b="1" dirty="0">
                <a:solidFill>
                  <a:srgbClr val="333F70"/>
                </a:solidFill>
                <a:latin typeface="Unbounded Bold" pitchFamily="34" charset="0"/>
                <a:ea typeface="Unbounded Bold" pitchFamily="34" charset="-122"/>
                <a:cs typeface="Unbounded Bold" pitchFamily="34" charset="-120"/>
              </a:rPr>
              <a:t>Promoting Equality</a:t>
            </a:r>
            <a:endParaRPr lang="en-US" sz="1650" dirty="0"/>
          </a:p>
        </p:txBody>
      </p:sp>
      <p:sp>
        <p:nvSpPr>
          <p:cNvPr id="16" name="Text 10"/>
          <p:cNvSpPr/>
          <p:nvPr/>
        </p:nvSpPr>
        <p:spPr>
          <a:xfrm>
            <a:off x="10212467" y="7516416"/>
            <a:ext cx="3824168" cy="237173"/>
          </a:xfrm>
          <a:prstGeom prst="rect">
            <a:avLst/>
          </a:prstGeom>
          <a:noFill/>
          <a:ln/>
        </p:spPr>
        <p:txBody>
          <a:bodyPr wrap="none" lIns="0" tIns="0" rIns="0" bIns="0" rtlCol="0" anchor="t"/>
          <a:lstStyle/>
          <a:p>
            <a:pPr algn="l" indent="0" marL="0">
              <a:lnSpc>
                <a:spcPts val="1850"/>
              </a:lnSpc>
              <a:buNone/>
            </a:pPr>
            <a:r>
              <a:rPr lang="en-US" sz="1300" dirty="0">
                <a:solidFill>
                  <a:srgbClr val="333F70"/>
                </a:solidFill>
                <a:latin typeface="Open Sans" pitchFamily="34" charset="0"/>
                <a:ea typeface="Open Sans" pitchFamily="34" charset="-122"/>
                <a:cs typeface="Open Sans" pitchFamily="34" charset="-120"/>
              </a:rPr>
              <a:t>Music as a catalyst for social justice.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838206"/>
            <a:ext cx="7556421" cy="1417558"/>
          </a:xfrm>
          <a:prstGeom prst="rect">
            <a:avLst/>
          </a:prstGeom>
          <a:noFill/>
          <a:ln/>
        </p:spPr>
        <p:txBody>
          <a:bodyPr wrap="square" lIns="0" tIns="0" rIns="0" bIns="0" rtlCol="0" anchor="t"/>
          <a:lstStyle/>
          <a:p>
            <a:pPr algn="l" indent="0" marL="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Preserving Heritage, Embracing Progress</a:t>
            </a:r>
            <a:endParaRPr lang="en-US" sz="4450" dirty="0"/>
          </a:p>
        </p:txBody>
      </p:sp>
      <p:sp>
        <p:nvSpPr>
          <p:cNvPr id="4" name="Text 1"/>
          <p:cNvSpPr/>
          <p:nvPr/>
        </p:nvSpPr>
        <p:spPr>
          <a:xfrm>
            <a:off x="793790" y="3595926"/>
            <a:ext cx="7556421" cy="1814513"/>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African music stands as a cultural cornerstone, strengthening leadership and fostering social cohesion. Yet, its evolution also promotes crucial gender awareness. It's a testament to the power of art to both honor positive traditions and champion inclusive, equitable participation for all.</a:t>
            </a:r>
            <a:endParaRPr lang="en-US" sz="1750" dirty="0"/>
          </a:p>
        </p:txBody>
      </p:sp>
      <p:sp>
        <p:nvSpPr>
          <p:cNvPr id="5" name="Text 2"/>
          <p:cNvSpPr/>
          <p:nvPr/>
        </p:nvSpPr>
        <p:spPr>
          <a:xfrm>
            <a:off x="793790" y="5665589"/>
            <a:ext cx="7556421" cy="725805"/>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Let's continue to celebrate this vibrant heritage while embracing its role in forging a more just and harmonious future.</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2026-02-13T10:44:42Z</dcterms:created>
  <dcterms:modified xsi:type="dcterms:W3CDTF">2026-02-13T10:44:42Z</dcterms:modified>
</cp:coreProperties>
</file>