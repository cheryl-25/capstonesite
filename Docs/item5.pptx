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embeddedFontLst>
    <p:embeddedFont>
      <p:font typeface="Unbounded"/>
      <p:regular r:id="rId12"/>
    </p:embeddedFont>
    <p:embeddedFont>
      <p:font typeface="Unbounded"/>
      <p:regular r:id="rId13"/>
    </p:embeddedFont>
    <p:embeddedFont>
      <p:font typeface="Open Sans"/>
      <p:regular r:id="rId14"/>
    </p:embeddedFont>
    <p:embeddedFont>
      <p:font typeface="Open Sans"/>
      <p:regular r:id="rId15"/>
    </p:embeddedFont>
    <p:embeddedFont>
      <p:font typeface="Open Sans"/>
      <p:regular r:id="rId16"/>
    </p:embeddedFont>
    <p:embeddedFont>
      <p:font typeface="Open Sans"/>
      <p:regular r:id="rId1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DDF8F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DDF8F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DDF8F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DDF8F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DDF8F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5-10.png"/><Relationship Id="rId11" Type="http://schemas.openxmlformats.org/officeDocument/2006/relationships/image" Target="../media/image-5-11.svg"/><Relationship Id="rId12" Type="http://schemas.openxmlformats.org/officeDocument/2006/relationships/slideLayout" Target="../slideLayouts/slideLayout6.xml"/><Relationship Id="rId1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79843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Name: Cheryl Achieng ,Regno: C027-01-2630/2021</a:t>
            </a:r>
            <a:endParaRPr lang="en-US" sz="1750" dirty="0"/>
          </a:p>
        </p:txBody>
      </p:sp>
      <p:sp>
        <p:nvSpPr>
          <p:cNvPr id="4" name="Text 1"/>
          <p:cNvSpPr/>
          <p:nvPr/>
        </p:nvSpPr>
        <p:spPr>
          <a:xfrm>
            <a:off x="793790" y="2388156"/>
            <a:ext cx="7556421" cy="3543895"/>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Mobile Banking: Revolutionizing Business and Information Technology</a:t>
            </a:r>
            <a:endParaRPr lang="en-US" sz="4450" dirty="0"/>
          </a:p>
        </p:txBody>
      </p:sp>
      <p:sp>
        <p:nvSpPr>
          <p:cNvPr id="5" name="Text 2"/>
          <p:cNvSpPr/>
          <p:nvPr/>
        </p:nvSpPr>
        <p:spPr>
          <a:xfrm>
            <a:off x="793790" y="6272212"/>
            <a:ext cx="75564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71299"/>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The Dawn of a New Banking Era: Mobile Innovation</a:t>
            </a:r>
            <a:endParaRPr lang="en-US" sz="4450" dirty="0"/>
          </a:p>
        </p:txBody>
      </p:sp>
      <p:pic>
        <p:nvPicPr>
          <p:cNvPr id="3" name="Image 0" descr="preencoded.png">    </p:cNvPr>
          <p:cNvPicPr>
            <a:picLocks noChangeAspect="1"/>
          </p:cNvPicPr>
          <p:nvPr/>
        </p:nvPicPr>
        <p:blipFill>
          <a:blip r:embed="rId1"/>
          <a:stretch>
            <a:fillRect/>
          </a:stretch>
        </p:blipFill>
        <p:spPr>
          <a:xfrm>
            <a:off x="793790" y="2742486"/>
            <a:ext cx="1849993" cy="1849993"/>
          </a:xfrm>
          <a:prstGeom prst="rect">
            <a:avLst/>
          </a:prstGeom>
        </p:spPr>
      </p:pic>
      <p:sp>
        <p:nvSpPr>
          <p:cNvPr id="4" name="Text 1"/>
          <p:cNvSpPr/>
          <p:nvPr/>
        </p:nvSpPr>
        <p:spPr>
          <a:xfrm>
            <a:off x="2927271" y="2742486"/>
            <a:ext cx="4246126" cy="850583"/>
          </a:xfrm>
          <a:prstGeom prst="rect">
            <a:avLst/>
          </a:prstGeom>
          <a:noFill/>
          <a:ln/>
        </p:spPr>
        <p:txBody>
          <a:bodyPr wrap="square" lIns="0" tIns="0" rIns="0" bIns="0" rtlCol="0" anchor="t"/>
          <a:lstStyle/>
          <a:p>
            <a:pPr algn="l" indent="0" marL="0">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Accessibility Redefined</a:t>
            </a:r>
            <a:endParaRPr lang="en-US" sz="2650" dirty="0"/>
          </a:p>
        </p:txBody>
      </p:sp>
      <p:sp>
        <p:nvSpPr>
          <p:cNvPr id="5" name="Text 2"/>
          <p:cNvSpPr/>
          <p:nvPr/>
        </p:nvSpPr>
        <p:spPr>
          <a:xfrm>
            <a:off x="2927271" y="3729157"/>
            <a:ext cx="4246126" cy="362902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Mobile banking and banking applications stand as pivotal innovations within the realms of Business and Information Technology. This groundbreaking development empowers customers to seamlessly access a comprehensive suite of banking services directly from their mobile phones and internet-enabled devices.</a:t>
            </a:r>
            <a:endParaRPr lang="en-US" sz="1750" dirty="0"/>
          </a:p>
        </p:txBody>
      </p:sp>
      <p:pic>
        <p:nvPicPr>
          <p:cNvPr id="6" name="Image 1" descr="preencoded.png">    </p:cNvPr>
          <p:cNvPicPr>
            <a:picLocks noChangeAspect="1"/>
          </p:cNvPicPr>
          <p:nvPr/>
        </p:nvPicPr>
        <p:blipFill>
          <a:blip r:embed="rId2"/>
          <a:stretch>
            <a:fillRect/>
          </a:stretch>
        </p:blipFill>
        <p:spPr>
          <a:xfrm>
            <a:off x="7456884" y="2742486"/>
            <a:ext cx="1850112" cy="1850112"/>
          </a:xfrm>
          <a:prstGeom prst="rect">
            <a:avLst/>
          </a:prstGeom>
        </p:spPr>
      </p:pic>
      <p:sp>
        <p:nvSpPr>
          <p:cNvPr id="7" name="Text 3"/>
          <p:cNvSpPr/>
          <p:nvPr/>
        </p:nvSpPr>
        <p:spPr>
          <a:xfrm>
            <a:off x="9590484" y="2742486"/>
            <a:ext cx="4246126" cy="850583"/>
          </a:xfrm>
          <a:prstGeom prst="rect">
            <a:avLst/>
          </a:prstGeom>
          <a:noFill/>
          <a:ln/>
        </p:spPr>
        <p:txBody>
          <a:bodyPr wrap="square" lIns="0" tIns="0" rIns="0" bIns="0" rtlCol="0" anchor="t"/>
          <a:lstStyle/>
          <a:p>
            <a:pPr algn="l" indent="0" marL="0">
              <a:lnSpc>
                <a:spcPts val="3300"/>
              </a:lnSpc>
              <a:buNone/>
            </a:pPr>
            <a:r>
              <a:rPr lang="en-US" sz="2650" b="1" dirty="0">
                <a:solidFill>
                  <a:srgbClr val="333F70"/>
                </a:solidFill>
                <a:latin typeface="Unbounded Bold" pitchFamily="34" charset="0"/>
                <a:ea typeface="Unbounded Bold" pitchFamily="34" charset="-122"/>
                <a:cs typeface="Unbounded Bold" pitchFamily="34" charset="-120"/>
              </a:rPr>
              <a:t>Services at Your Fingertips</a:t>
            </a:r>
            <a:endParaRPr lang="en-US" sz="2650" dirty="0"/>
          </a:p>
        </p:txBody>
      </p:sp>
      <p:sp>
        <p:nvSpPr>
          <p:cNvPr id="8" name="Text 4"/>
          <p:cNvSpPr/>
          <p:nvPr/>
        </p:nvSpPr>
        <p:spPr>
          <a:xfrm>
            <a:off x="9590484" y="3729157"/>
            <a:ext cx="4246126" cy="2903220"/>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Gone are the days of mandatory physical visits to banking halls. Mobile banking applications facilitate a wide array of functionalities, including instant fund transfers, convenient bill payments, real-time balance inquiries, streamlined loan applications, and efficient online customer support.</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1271" y="1436608"/>
            <a:ext cx="13347859" cy="1144905"/>
          </a:xfrm>
          <a:prstGeom prst="rect">
            <a:avLst/>
          </a:prstGeom>
          <a:noFill/>
          <a:ln/>
        </p:spPr>
        <p:txBody>
          <a:bodyPr wrap="square" lIns="0" tIns="0" rIns="0" bIns="0" rtlCol="0" anchor="t"/>
          <a:lstStyle/>
          <a:p>
            <a:pPr algn="l" indent="0" marL="0">
              <a:lnSpc>
                <a:spcPts val="4500"/>
              </a:lnSpc>
              <a:buNone/>
            </a:pPr>
            <a:r>
              <a:rPr lang="en-US" sz="3600" b="1" dirty="0">
                <a:solidFill>
                  <a:srgbClr val="333F70"/>
                </a:solidFill>
                <a:latin typeface="Unbounded Bold" pitchFamily="34" charset="0"/>
                <a:ea typeface="Unbounded Bold" pitchFamily="34" charset="-122"/>
                <a:cs typeface="Unbounded Bold" pitchFamily="34" charset="-120"/>
              </a:rPr>
              <a:t>Driving Efficiency and Inclusion: The Core Benefits</a:t>
            </a:r>
            <a:endParaRPr lang="en-US" sz="3600" dirty="0"/>
          </a:p>
        </p:txBody>
      </p:sp>
      <p:sp>
        <p:nvSpPr>
          <p:cNvPr id="3" name="Shape 1"/>
          <p:cNvSpPr/>
          <p:nvPr/>
        </p:nvSpPr>
        <p:spPr>
          <a:xfrm>
            <a:off x="641271" y="2877503"/>
            <a:ext cx="3225879" cy="3915370"/>
          </a:xfrm>
          <a:prstGeom prst="roundRect">
            <a:avLst>
              <a:gd name="adj" fmla="val 3401"/>
            </a:avLst>
          </a:prstGeom>
          <a:solidFill>
            <a:srgbClr val="DDF8F2"/>
          </a:solidFill>
          <a:ln w="22860">
            <a:solidFill>
              <a:srgbClr val="BCDBD4"/>
            </a:solidFill>
            <a:prstDash val="solid"/>
          </a:ln>
        </p:spPr>
      </p:sp>
      <p:sp>
        <p:nvSpPr>
          <p:cNvPr id="4" name="Shape 2"/>
          <p:cNvSpPr/>
          <p:nvPr/>
        </p:nvSpPr>
        <p:spPr>
          <a:xfrm>
            <a:off x="618411" y="2877503"/>
            <a:ext cx="91440" cy="3915370"/>
          </a:xfrm>
          <a:prstGeom prst="roundRect">
            <a:avLst>
              <a:gd name="adj" fmla="val 84159"/>
            </a:avLst>
          </a:prstGeom>
          <a:solidFill>
            <a:srgbClr val="26A688"/>
          </a:solidFill>
          <a:ln/>
        </p:spPr>
      </p:sp>
      <p:sp>
        <p:nvSpPr>
          <p:cNvPr id="5" name="Text 3"/>
          <p:cNvSpPr/>
          <p:nvPr/>
        </p:nvSpPr>
        <p:spPr>
          <a:xfrm>
            <a:off x="915829" y="3083481"/>
            <a:ext cx="2745343" cy="1030486"/>
          </a:xfrm>
          <a:prstGeom prst="rect">
            <a:avLst/>
          </a:prstGeom>
          <a:noFill/>
          <a:ln/>
        </p:spPr>
        <p:txBody>
          <a:bodyPr wrap="square" lIns="0" tIns="0" rIns="0" bIns="0" rtlCol="0" anchor="t"/>
          <a:lstStyle/>
          <a:p>
            <a:pPr algn="l" indent="0" marL="0">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Improved Operational Efficiency</a:t>
            </a:r>
            <a:endParaRPr lang="en-US" sz="2150" dirty="0"/>
          </a:p>
        </p:txBody>
      </p:sp>
      <p:sp>
        <p:nvSpPr>
          <p:cNvPr id="6" name="Text 4"/>
          <p:cNvSpPr/>
          <p:nvPr/>
        </p:nvSpPr>
        <p:spPr>
          <a:xfrm>
            <a:off x="915829" y="4202668"/>
            <a:ext cx="2745343" cy="2384227"/>
          </a:xfrm>
          <a:prstGeom prst="rect">
            <a:avLst/>
          </a:prstGeom>
          <a:noFill/>
          <a:ln/>
        </p:spPr>
        <p:txBody>
          <a:bodyPr wrap="square" lIns="0" tIns="0" rIns="0" bIns="0" rtlCol="0" anchor="t"/>
          <a:lstStyle/>
          <a:p>
            <a:pPr algn="l" indent="0" marL="0">
              <a:lnSpc>
                <a:spcPts val="2050"/>
              </a:lnSpc>
              <a:buNone/>
            </a:pPr>
            <a:r>
              <a:rPr lang="en-US" sz="1400" dirty="0">
                <a:solidFill>
                  <a:srgbClr val="333F70"/>
                </a:solidFill>
                <a:latin typeface="Open Sans" pitchFamily="34" charset="0"/>
                <a:ea typeface="Open Sans" pitchFamily="34" charset="-122"/>
                <a:cs typeface="Open Sans" pitchFamily="34" charset="-120"/>
              </a:rPr>
              <a:t>For financial institutions, mobile banking has significantly enhanced operational efficiency. Automating routine transactions reduces the need for extensive branch networks and manual processing, leading to substantial cost savings and optimized resource allocation.</a:t>
            </a:r>
            <a:endParaRPr lang="en-US" sz="1400" dirty="0"/>
          </a:p>
        </p:txBody>
      </p:sp>
      <p:sp>
        <p:nvSpPr>
          <p:cNvPr id="7" name="Shape 5"/>
          <p:cNvSpPr/>
          <p:nvPr/>
        </p:nvSpPr>
        <p:spPr>
          <a:xfrm>
            <a:off x="4015145" y="2877503"/>
            <a:ext cx="3225998" cy="3915370"/>
          </a:xfrm>
          <a:prstGeom prst="roundRect">
            <a:avLst>
              <a:gd name="adj" fmla="val 3401"/>
            </a:avLst>
          </a:prstGeom>
          <a:solidFill>
            <a:srgbClr val="DDF8F2"/>
          </a:solidFill>
          <a:ln w="22860">
            <a:solidFill>
              <a:srgbClr val="BCDBD4"/>
            </a:solidFill>
            <a:prstDash val="solid"/>
          </a:ln>
        </p:spPr>
      </p:sp>
      <p:sp>
        <p:nvSpPr>
          <p:cNvPr id="8" name="Shape 6"/>
          <p:cNvSpPr/>
          <p:nvPr/>
        </p:nvSpPr>
        <p:spPr>
          <a:xfrm>
            <a:off x="3992285" y="2877503"/>
            <a:ext cx="91440" cy="3915370"/>
          </a:xfrm>
          <a:prstGeom prst="roundRect">
            <a:avLst>
              <a:gd name="adj" fmla="val 84159"/>
            </a:avLst>
          </a:prstGeom>
          <a:solidFill>
            <a:srgbClr val="26A688"/>
          </a:solidFill>
          <a:ln/>
        </p:spPr>
      </p:sp>
      <p:sp>
        <p:nvSpPr>
          <p:cNvPr id="9" name="Text 7"/>
          <p:cNvSpPr/>
          <p:nvPr/>
        </p:nvSpPr>
        <p:spPr>
          <a:xfrm>
            <a:off x="4289703" y="3083481"/>
            <a:ext cx="2745462" cy="686991"/>
          </a:xfrm>
          <a:prstGeom prst="rect">
            <a:avLst/>
          </a:prstGeom>
          <a:noFill/>
          <a:ln/>
        </p:spPr>
        <p:txBody>
          <a:bodyPr wrap="square" lIns="0" tIns="0" rIns="0" bIns="0" rtlCol="0" anchor="t"/>
          <a:lstStyle/>
          <a:p>
            <a:pPr algn="l" indent="0" marL="0">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Reduced Costs for Banks</a:t>
            </a:r>
            <a:endParaRPr lang="en-US" sz="2150" dirty="0"/>
          </a:p>
        </p:txBody>
      </p:sp>
      <p:sp>
        <p:nvSpPr>
          <p:cNvPr id="10" name="Text 8"/>
          <p:cNvSpPr/>
          <p:nvPr/>
        </p:nvSpPr>
        <p:spPr>
          <a:xfrm>
            <a:off x="4289703" y="3859173"/>
            <a:ext cx="2745462" cy="2384227"/>
          </a:xfrm>
          <a:prstGeom prst="rect">
            <a:avLst/>
          </a:prstGeom>
          <a:noFill/>
          <a:ln/>
        </p:spPr>
        <p:txBody>
          <a:bodyPr wrap="square" lIns="0" tIns="0" rIns="0" bIns="0" rtlCol="0" anchor="t"/>
          <a:lstStyle/>
          <a:p>
            <a:pPr algn="l" indent="0" marL="0">
              <a:lnSpc>
                <a:spcPts val="2050"/>
              </a:lnSpc>
              <a:buNone/>
            </a:pPr>
            <a:r>
              <a:rPr lang="en-US" sz="1400" dirty="0">
                <a:solidFill>
                  <a:srgbClr val="333F70"/>
                </a:solidFill>
                <a:latin typeface="Open Sans" pitchFamily="34" charset="0"/>
                <a:ea typeface="Open Sans" pitchFamily="34" charset="-122"/>
                <a:cs typeface="Open Sans" pitchFamily="34" charset="-120"/>
              </a:rPr>
              <a:t>The shift to digital platforms translates directly into reduced operational costs for banks. Lower overheads associated with physical infrastructure and human resources allow banks to reallocate capital towards innovation and improved customer offerings.</a:t>
            </a:r>
            <a:endParaRPr lang="en-US" sz="1400" dirty="0"/>
          </a:p>
        </p:txBody>
      </p:sp>
      <p:sp>
        <p:nvSpPr>
          <p:cNvPr id="11" name="Shape 9"/>
          <p:cNvSpPr/>
          <p:nvPr/>
        </p:nvSpPr>
        <p:spPr>
          <a:xfrm>
            <a:off x="7389138" y="2877503"/>
            <a:ext cx="3225998" cy="3915370"/>
          </a:xfrm>
          <a:prstGeom prst="roundRect">
            <a:avLst>
              <a:gd name="adj" fmla="val 3401"/>
            </a:avLst>
          </a:prstGeom>
          <a:solidFill>
            <a:srgbClr val="DDF8F2"/>
          </a:solidFill>
          <a:ln w="22860">
            <a:solidFill>
              <a:srgbClr val="BCDBD4"/>
            </a:solidFill>
            <a:prstDash val="solid"/>
          </a:ln>
        </p:spPr>
      </p:sp>
      <p:sp>
        <p:nvSpPr>
          <p:cNvPr id="12" name="Shape 10"/>
          <p:cNvSpPr/>
          <p:nvPr/>
        </p:nvSpPr>
        <p:spPr>
          <a:xfrm>
            <a:off x="7366278" y="2877503"/>
            <a:ext cx="91440" cy="3915370"/>
          </a:xfrm>
          <a:prstGeom prst="roundRect">
            <a:avLst>
              <a:gd name="adj" fmla="val 84159"/>
            </a:avLst>
          </a:prstGeom>
          <a:solidFill>
            <a:srgbClr val="26A688"/>
          </a:solidFill>
          <a:ln/>
        </p:spPr>
      </p:sp>
      <p:sp>
        <p:nvSpPr>
          <p:cNvPr id="13" name="Text 11"/>
          <p:cNvSpPr/>
          <p:nvPr/>
        </p:nvSpPr>
        <p:spPr>
          <a:xfrm>
            <a:off x="7663696" y="3083481"/>
            <a:ext cx="2745462" cy="1030486"/>
          </a:xfrm>
          <a:prstGeom prst="rect">
            <a:avLst/>
          </a:prstGeom>
          <a:noFill/>
          <a:ln/>
        </p:spPr>
        <p:txBody>
          <a:bodyPr wrap="square" lIns="0" tIns="0" rIns="0" bIns="0" rtlCol="0" anchor="t"/>
          <a:lstStyle/>
          <a:p>
            <a:pPr algn="l" indent="0" marL="0">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Enhanced Financial Inclusion</a:t>
            </a:r>
            <a:endParaRPr lang="en-US" sz="2150" dirty="0"/>
          </a:p>
        </p:txBody>
      </p:sp>
      <p:sp>
        <p:nvSpPr>
          <p:cNvPr id="14" name="Text 12"/>
          <p:cNvSpPr/>
          <p:nvPr/>
        </p:nvSpPr>
        <p:spPr>
          <a:xfrm>
            <a:off x="7663696" y="4202668"/>
            <a:ext cx="2745462" cy="2384227"/>
          </a:xfrm>
          <a:prstGeom prst="rect">
            <a:avLst/>
          </a:prstGeom>
          <a:noFill/>
          <a:ln/>
        </p:spPr>
        <p:txBody>
          <a:bodyPr wrap="square" lIns="0" tIns="0" rIns="0" bIns="0" rtlCol="0" anchor="t"/>
          <a:lstStyle/>
          <a:p>
            <a:pPr algn="l" indent="0" marL="0">
              <a:lnSpc>
                <a:spcPts val="2050"/>
              </a:lnSpc>
              <a:buNone/>
            </a:pPr>
            <a:r>
              <a:rPr lang="en-US" sz="1400" dirty="0">
                <a:solidFill>
                  <a:srgbClr val="333F70"/>
                </a:solidFill>
                <a:latin typeface="Open Sans" pitchFamily="34" charset="0"/>
                <a:ea typeface="Open Sans" pitchFamily="34" charset="-122"/>
                <a:cs typeface="Open Sans" pitchFamily="34" charset="-120"/>
              </a:rPr>
              <a:t>Perhaps one of the most profound impacts is the enhancement of financial inclusion. Mobile banking extends banking services to previously underserved populations, particularly in rural areas, bringing more people into the formal financial system.</a:t>
            </a:r>
            <a:endParaRPr lang="en-US" sz="1400" dirty="0"/>
          </a:p>
        </p:txBody>
      </p:sp>
      <p:sp>
        <p:nvSpPr>
          <p:cNvPr id="15" name="Shape 13"/>
          <p:cNvSpPr/>
          <p:nvPr/>
        </p:nvSpPr>
        <p:spPr>
          <a:xfrm>
            <a:off x="10763131" y="2877503"/>
            <a:ext cx="3225998" cy="3915370"/>
          </a:xfrm>
          <a:prstGeom prst="roundRect">
            <a:avLst>
              <a:gd name="adj" fmla="val 3401"/>
            </a:avLst>
          </a:prstGeom>
          <a:solidFill>
            <a:srgbClr val="DDF8F2"/>
          </a:solidFill>
          <a:ln w="22860">
            <a:solidFill>
              <a:srgbClr val="BCDBD4"/>
            </a:solidFill>
            <a:prstDash val="solid"/>
          </a:ln>
        </p:spPr>
      </p:sp>
      <p:sp>
        <p:nvSpPr>
          <p:cNvPr id="16" name="Shape 14"/>
          <p:cNvSpPr/>
          <p:nvPr/>
        </p:nvSpPr>
        <p:spPr>
          <a:xfrm>
            <a:off x="10740271" y="2877503"/>
            <a:ext cx="91440" cy="3915370"/>
          </a:xfrm>
          <a:prstGeom prst="roundRect">
            <a:avLst>
              <a:gd name="adj" fmla="val 84159"/>
            </a:avLst>
          </a:prstGeom>
          <a:solidFill>
            <a:srgbClr val="26A688"/>
          </a:solidFill>
          <a:ln/>
        </p:spPr>
      </p:sp>
      <p:sp>
        <p:nvSpPr>
          <p:cNvPr id="17" name="Text 15"/>
          <p:cNvSpPr/>
          <p:nvPr/>
        </p:nvSpPr>
        <p:spPr>
          <a:xfrm>
            <a:off x="11037689" y="3083481"/>
            <a:ext cx="2745462" cy="1030486"/>
          </a:xfrm>
          <a:prstGeom prst="rect">
            <a:avLst/>
          </a:prstGeom>
          <a:noFill/>
          <a:ln/>
        </p:spPr>
        <p:txBody>
          <a:bodyPr wrap="square" lIns="0" tIns="0" rIns="0" bIns="0" rtlCol="0" anchor="t"/>
          <a:lstStyle/>
          <a:p>
            <a:pPr algn="l" indent="0" marL="0">
              <a:lnSpc>
                <a:spcPts val="2700"/>
              </a:lnSpc>
              <a:buNone/>
            </a:pPr>
            <a:r>
              <a:rPr lang="en-US" sz="2150" b="1" dirty="0">
                <a:solidFill>
                  <a:srgbClr val="333F70"/>
                </a:solidFill>
                <a:latin typeface="Unbounded Bold" pitchFamily="34" charset="0"/>
                <a:ea typeface="Unbounded Bold" pitchFamily="34" charset="-122"/>
                <a:cs typeface="Unbounded Bold" pitchFamily="34" charset="-120"/>
              </a:rPr>
              <a:t>Increased Customer Convenience</a:t>
            </a:r>
            <a:endParaRPr lang="en-US" sz="2150" dirty="0"/>
          </a:p>
        </p:txBody>
      </p:sp>
      <p:sp>
        <p:nvSpPr>
          <p:cNvPr id="18" name="Text 16"/>
          <p:cNvSpPr/>
          <p:nvPr/>
        </p:nvSpPr>
        <p:spPr>
          <a:xfrm>
            <a:off x="11037689" y="4202668"/>
            <a:ext cx="2745462" cy="2119313"/>
          </a:xfrm>
          <a:prstGeom prst="rect">
            <a:avLst/>
          </a:prstGeom>
          <a:noFill/>
          <a:ln/>
        </p:spPr>
        <p:txBody>
          <a:bodyPr wrap="square" lIns="0" tIns="0" rIns="0" bIns="0" rtlCol="0" anchor="t"/>
          <a:lstStyle/>
          <a:p>
            <a:pPr algn="l" indent="0" marL="0">
              <a:lnSpc>
                <a:spcPts val="2050"/>
              </a:lnSpc>
              <a:buNone/>
            </a:pPr>
            <a:r>
              <a:rPr lang="en-US" sz="1400" dirty="0">
                <a:solidFill>
                  <a:srgbClr val="333F70"/>
                </a:solidFill>
                <a:latin typeface="Open Sans" pitchFamily="34" charset="0"/>
                <a:ea typeface="Open Sans" pitchFamily="34" charset="-122"/>
                <a:cs typeface="Open Sans" pitchFamily="34" charset="-120"/>
              </a:rPr>
              <a:t>Customers benefit immensely from unparalleled convenience. The ability to manage finances anytime, anywhere, fosters greater financial autonomy and satisfaction, aligning with the demands of a fast-paced, digital lifestyle.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77459"/>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333F70"/>
                </a:solidFill>
                <a:latin typeface="Unbounded Bold" pitchFamily="34" charset="0"/>
                <a:ea typeface="Unbounded Bold" pitchFamily="34" charset="-122"/>
                <a:cs typeface="Unbounded Bold" pitchFamily="34" charset="-120"/>
              </a:rPr>
              <a:t>Transformative Impact in Developing Countries</a:t>
            </a:r>
            <a:endParaRPr lang="en-US" sz="4450" dirty="0"/>
          </a:p>
        </p:txBody>
      </p:sp>
      <p:sp>
        <p:nvSpPr>
          <p:cNvPr id="3" name="Text 1"/>
          <p:cNvSpPr/>
          <p:nvPr/>
        </p:nvSpPr>
        <p:spPr>
          <a:xfrm>
            <a:off x="793790" y="3335179"/>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In developing countries, the impact of mobile banking has been nothing short of revolutionary. A prime example is Kenya, where mobile banking has fundamentally reshaped the financial sector.</a:t>
            </a:r>
            <a:endParaRPr lang="en-US" sz="1750" dirty="0"/>
          </a:p>
        </p:txBody>
      </p:sp>
      <p:sp>
        <p:nvSpPr>
          <p:cNvPr id="4" name="Text 2"/>
          <p:cNvSpPr/>
          <p:nvPr/>
        </p:nvSpPr>
        <p:spPr>
          <a:xfrm>
            <a:off x="793790" y="4316135"/>
            <a:ext cx="13042821" cy="2336006"/>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Accessibility for All:</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Mobile banking has made financial services accessible to both urban and rural populations, bridging geographical divides and socioeconomic barriers that once excluded millions from traditional banking.</a:t>
            </a:r>
            <a:endParaRPr lang="en-US" sz="1750" dirty="0"/>
          </a:p>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Economic Empowerment:</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This increased accessibility has fostered greater economic empowerment, enabling small business owners, farmers, and individuals to manage money more effectively, save, and access credit.</a:t>
            </a:r>
            <a:endParaRPr lang="en-US" sz="1750" dirty="0"/>
          </a:p>
          <a:p>
            <a:pPr algn="l" marL="342900" indent="-342900">
              <a:lnSpc>
                <a:spcPts val="2850"/>
              </a:lnSpc>
              <a:buSzPct val="100000"/>
              <a:buChar char="•"/>
            </a:pPr>
            <a:r>
              <a:rPr lang="en-US" sz="1750" b="1" dirty="0">
                <a:solidFill>
                  <a:srgbClr val="333F70"/>
                </a:solidFill>
                <a:latin typeface="Open Sans" pitchFamily="34" charset="0"/>
                <a:ea typeface="Open Sans" pitchFamily="34" charset="-122"/>
                <a:cs typeface="Open Sans" pitchFamily="34" charset="-120"/>
              </a:rPr>
              <a:t>Innovation Hubs:</a:t>
            </a:r>
            <a:pPr algn="l" indent="0" marL="0">
              <a:lnSpc>
                <a:spcPts val="2850"/>
              </a:lnSpc>
              <a:buNone/>
            </a:pPr>
            <a:r>
              <a:rPr lang="en-US" sz="1750" dirty="0">
                <a:solidFill>
                  <a:srgbClr val="333F70"/>
                </a:solidFill>
                <a:latin typeface="Open Sans" pitchFamily="34" charset="0"/>
                <a:ea typeface="Open Sans" pitchFamily="34" charset="-122"/>
                <a:cs typeface="Open Sans" pitchFamily="34" charset="-120"/>
              </a:rPr>
              <a:t> The success of mobile banking in these regions has also positioned them as innovation hubs for financial technology, inspiring similar advancements across the globe.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7939" y="609362"/>
            <a:ext cx="11872198" cy="587573"/>
          </a:xfrm>
          <a:prstGeom prst="rect">
            <a:avLst/>
          </a:prstGeom>
          <a:noFill/>
          <a:ln/>
        </p:spPr>
        <p:txBody>
          <a:bodyPr wrap="none" lIns="0" tIns="0" rIns="0" bIns="0" rtlCol="0" anchor="t"/>
          <a:lstStyle/>
          <a:p>
            <a:pPr algn="l" indent="0" marL="0">
              <a:lnSpc>
                <a:spcPts val="4600"/>
              </a:lnSpc>
              <a:buNone/>
            </a:pPr>
            <a:r>
              <a:rPr lang="en-US" sz="3700" b="1" dirty="0">
                <a:solidFill>
                  <a:srgbClr val="333F70"/>
                </a:solidFill>
                <a:latin typeface="Unbounded Bold" pitchFamily="34" charset="0"/>
                <a:ea typeface="Unbounded Bold" pitchFamily="34" charset="-122"/>
                <a:cs typeface="Unbounded Bold" pitchFamily="34" charset="-120"/>
              </a:rPr>
              <a:t>Navigating the Future of Mobile Banking</a:t>
            </a:r>
            <a:endParaRPr lang="en-US" sz="3700" dirty="0"/>
          </a:p>
        </p:txBody>
      </p:sp>
      <p:pic>
        <p:nvPicPr>
          <p:cNvPr id="3" name="Image 0" descr="preencoded.png">    </p:cNvPr>
          <p:cNvPicPr>
            <a:picLocks noChangeAspect="1"/>
          </p:cNvPicPr>
          <p:nvPr/>
        </p:nvPicPr>
        <p:blipFill>
          <a:blip r:embed="rId1"/>
          <a:stretch>
            <a:fillRect/>
          </a:stretch>
        </p:blipFill>
        <p:spPr>
          <a:xfrm>
            <a:off x="871180" y="1508522"/>
            <a:ext cx="12888039" cy="4836200"/>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877723" y="2740389"/>
            <a:ext cx="665721" cy="665722"/>
          </a:xfrm>
          <a:prstGeom prst="rect">
            <a:avLst/>
          </a:prstGeom>
        </p:spPr>
      </p:pic>
      <p:sp>
        <p:nvSpPr>
          <p:cNvPr id="5" name="Text 1"/>
          <p:cNvSpPr/>
          <p:nvPr/>
        </p:nvSpPr>
        <p:spPr>
          <a:xfrm>
            <a:off x="11284606" y="5170689"/>
            <a:ext cx="1943908" cy="374469"/>
          </a:xfrm>
          <a:prstGeom prst="rect">
            <a:avLst/>
          </a:prstGeom>
          <a:noFill/>
          <a:ln/>
        </p:spPr>
        <p:txBody>
          <a:bodyPr wrap="none" lIns="0" tIns="0" rIns="0" bIns="0" rtlCol="0" anchor="t"/>
          <a:lstStyle/>
          <a:p>
            <a:pPr algn="ctr" indent="0" marL="0">
              <a:lnSpc>
                <a:spcPts val="2900"/>
              </a:lnSpc>
              <a:buNone/>
            </a:pPr>
            <a:r>
              <a:rPr lang="en-US" sz="2350" b="1" dirty="0">
                <a:solidFill>
                  <a:srgbClr val="333F70"/>
                </a:solidFill>
                <a:latin typeface="Unbounded Bold" pitchFamily="34" charset="0"/>
                <a:ea typeface="Unbounded Bold" pitchFamily="34" charset="-122"/>
                <a:cs typeface="Unbounded Bold" pitchFamily="34" charset="-120"/>
              </a:rPr>
              <a:t>Future</a:t>
            </a:r>
            <a:endParaRPr lang="en-US" sz="23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40557" y="2741637"/>
            <a:ext cx="665722" cy="665722"/>
          </a:xfrm>
          <a:prstGeom prst="rect">
            <a:avLst/>
          </a:prstGeom>
        </p:spPr>
      </p:pic>
      <p:sp>
        <p:nvSpPr>
          <p:cNvPr id="7" name="Text 2"/>
          <p:cNvSpPr/>
          <p:nvPr/>
        </p:nvSpPr>
        <p:spPr>
          <a:xfrm>
            <a:off x="8834750" y="4983455"/>
            <a:ext cx="1943907" cy="748937"/>
          </a:xfrm>
          <a:prstGeom prst="rect">
            <a:avLst/>
          </a:prstGeom>
          <a:noFill/>
          <a:ln/>
        </p:spPr>
        <p:txBody>
          <a:bodyPr wrap="square" lIns="0" tIns="0" rIns="0" bIns="0" rtlCol="0" anchor="t"/>
          <a:lstStyle/>
          <a:p>
            <a:pPr algn="ctr" indent="0" marL="0">
              <a:lnSpc>
                <a:spcPts val="2900"/>
              </a:lnSpc>
              <a:buNone/>
            </a:pPr>
            <a:r>
              <a:rPr lang="en-US" sz="2350" b="1" dirty="0">
                <a:solidFill>
                  <a:srgbClr val="333F70"/>
                </a:solidFill>
                <a:latin typeface="Unbounded Bold" pitchFamily="34" charset="0"/>
                <a:ea typeface="Unbounded Bold" pitchFamily="34" charset="-122"/>
                <a:cs typeface="Unbounded Bold" pitchFamily="34" charset="-120"/>
              </a:rPr>
              <a:t>Challenges</a:t>
            </a:r>
            <a:endParaRPr lang="en-US" sz="23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04015" y="2741637"/>
            <a:ext cx="665722" cy="665722"/>
          </a:xfrm>
          <a:prstGeom prst="rect">
            <a:avLst/>
          </a:prstGeom>
        </p:spPr>
      </p:pic>
      <p:sp>
        <p:nvSpPr>
          <p:cNvPr id="9" name="Text 3"/>
          <p:cNvSpPr/>
          <p:nvPr/>
        </p:nvSpPr>
        <p:spPr>
          <a:xfrm>
            <a:off x="6398208" y="5170689"/>
            <a:ext cx="1943908" cy="374469"/>
          </a:xfrm>
          <a:prstGeom prst="rect">
            <a:avLst/>
          </a:prstGeom>
          <a:noFill/>
          <a:ln/>
        </p:spPr>
        <p:txBody>
          <a:bodyPr wrap="none" lIns="0" tIns="0" rIns="0" bIns="0" rtlCol="0" anchor="t"/>
          <a:lstStyle/>
          <a:p>
            <a:pPr algn="ctr" indent="0" marL="0">
              <a:lnSpc>
                <a:spcPts val="2900"/>
              </a:lnSpc>
              <a:buNone/>
            </a:pPr>
            <a:r>
              <a:rPr lang="en-US" sz="2350" b="1" dirty="0">
                <a:solidFill>
                  <a:srgbClr val="333F70"/>
                </a:solidFill>
                <a:latin typeface="Unbounded Bold" pitchFamily="34" charset="0"/>
                <a:ea typeface="Unbounded Bold" pitchFamily="34" charset="-122"/>
                <a:cs typeface="Unbounded Bold" pitchFamily="34" charset="-120"/>
              </a:rPr>
              <a:t>Benefits</a:t>
            </a:r>
            <a:endParaRPr lang="en-US" sz="23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67473" y="2741637"/>
            <a:ext cx="665722" cy="665722"/>
          </a:xfrm>
          <a:prstGeom prst="rect">
            <a:avLst/>
          </a:prstGeom>
        </p:spPr>
      </p:pic>
      <p:sp>
        <p:nvSpPr>
          <p:cNvPr id="11" name="Text 4"/>
          <p:cNvSpPr/>
          <p:nvPr/>
        </p:nvSpPr>
        <p:spPr>
          <a:xfrm>
            <a:off x="3961666" y="4983455"/>
            <a:ext cx="1943908" cy="748937"/>
          </a:xfrm>
          <a:prstGeom prst="rect">
            <a:avLst/>
          </a:prstGeom>
          <a:noFill/>
          <a:ln/>
        </p:spPr>
        <p:txBody>
          <a:bodyPr wrap="square" lIns="0" tIns="0" rIns="0" bIns="0" rtlCol="0" anchor="t"/>
          <a:lstStyle/>
          <a:p>
            <a:pPr algn="ctr" indent="0" marL="0">
              <a:lnSpc>
                <a:spcPts val="2900"/>
              </a:lnSpc>
              <a:buNone/>
            </a:pPr>
            <a:r>
              <a:rPr lang="en-US" sz="2350" b="1" dirty="0">
                <a:solidFill>
                  <a:srgbClr val="333F70"/>
                </a:solidFill>
                <a:latin typeface="Unbounded Bold" pitchFamily="34" charset="0"/>
                <a:ea typeface="Unbounded Bold" pitchFamily="34" charset="-122"/>
                <a:cs typeface="Unbounded Bold" pitchFamily="34" charset="-120"/>
              </a:rPr>
              <a:t>Components</a:t>
            </a:r>
            <a:endParaRPr lang="en-US" sz="2350" dirty="0"/>
          </a:p>
        </p:txBody>
      </p:sp>
      <p:pic>
        <p:nvPicPr>
          <p:cNvPr id="12"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117617" y="2741637"/>
            <a:ext cx="665722" cy="665722"/>
          </a:xfrm>
          <a:prstGeom prst="rect">
            <a:avLst/>
          </a:prstGeom>
        </p:spPr>
      </p:pic>
      <p:sp>
        <p:nvSpPr>
          <p:cNvPr id="13" name="Text 5"/>
          <p:cNvSpPr/>
          <p:nvPr/>
        </p:nvSpPr>
        <p:spPr>
          <a:xfrm>
            <a:off x="1471867" y="5170689"/>
            <a:ext cx="1943908" cy="374469"/>
          </a:xfrm>
          <a:prstGeom prst="rect">
            <a:avLst/>
          </a:prstGeom>
          <a:noFill/>
          <a:ln/>
        </p:spPr>
        <p:txBody>
          <a:bodyPr wrap="none" lIns="0" tIns="0" rIns="0" bIns="0" rtlCol="0" anchor="t"/>
          <a:lstStyle/>
          <a:p>
            <a:pPr algn="ctr" indent="0" marL="0">
              <a:lnSpc>
                <a:spcPts val="2900"/>
              </a:lnSpc>
              <a:buNone/>
            </a:pPr>
            <a:r>
              <a:rPr lang="en-US" sz="2350" b="1" dirty="0">
                <a:solidFill>
                  <a:srgbClr val="333F70"/>
                </a:solidFill>
                <a:latin typeface="Unbounded Bold" pitchFamily="34" charset="0"/>
                <a:ea typeface="Unbounded Bold" pitchFamily="34" charset="-122"/>
                <a:cs typeface="Unbounded Bold" pitchFamily="34" charset="-120"/>
              </a:rPr>
              <a:t>Evolution</a:t>
            </a:r>
            <a:endParaRPr lang="en-US" sz="2350" dirty="0"/>
          </a:p>
        </p:txBody>
      </p:sp>
      <p:sp>
        <p:nvSpPr>
          <p:cNvPr id="14" name="Text 6"/>
          <p:cNvSpPr/>
          <p:nvPr/>
        </p:nvSpPr>
        <p:spPr>
          <a:xfrm>
            <a:off x="657939" y="6519982"/>
            <a:ext cx="13314521" cy="1100138"/>
          </a:xfrm>
          <a:prstGeom prst="rect">
            <a:avLst/>
          </a:prstGeom>
          <a:noFill/>
          <a:ln/>
        </p:spPr>
        <p:txBody>
          <a:bodyPr wrap="square" lIns="0" tIns="0" rIns="0" bIns="0" rtlCol="0" anchor="t"/>
          <a:lstStyle/>
          <a:p>
            <a:pPr algn="l" indent="0" marL="0">
              <a:lnSpc>
                <a:spcPts val="2150"/>
              </a:lnSpc>
              <a:buNone/>
            </a:pPr>
            <a:r>
              <a:rPr lang="en-US" sz="1450" dirty="0">
                <a:solidFill>
                  <a:srgbClr val="333F70"/>
                </a:solidFill>
                <a:latin typeface="Open Sans" pitchFamily="34" charset="0"/>
                <a:ea typeface="Open Sans" pitchFamily="34" charset="-122"/>
                <a:cs typeface="Open Sans" pitchFamily="34" charset="-120"/>
              </a:rPr>
              <a:t>This presentation will delve deeper into the multifaceted landscape of mobile banking, offering a comprehensive discussion on its evolution from nascent technology to a global phenomenon. We will explore its core components, analyze the myriad benefits it offers to both consumers and institutions, and critically examine the challenges that still need to be addressed. Finally, we will cast an eye towards the future, contemplating the next wave of innovations and prospects for mobile banking in the dynamic business environment.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2026-02-13T10:51:51Z</dcterms:created>
  <dcterms:modified xsi:type="dcterms:W3CDTF">2026-02-13T10:51:51Z</dcterms:modified>
</cp:coreProperties>
</file>