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Unbounded"/>
      <p:regular r:id="rId14"/>
    </p:embeddedFont>
    <p:embeddedFont>
      <p:font typeface="Unbounded"/>
      <p:regular r:id="rId15"/>
    </p:embeddedFont>
    <p:embeddedFont>
      <p:font typeface="Open Sans"/>
      <p:regular r:id="rId16"/>
    </p:embeddedFont>
    <p:embeddedFont>
      <p:font typeface="Open Sans"/>
      <p:regular r:id="rId17"/>
    </p:embeddedFont>
    <p:embeddedFont>
      <p:font typeface="Open Sans"/>
      <p:regular r:id="rId18"/>
    </p:embeddedFont>
    <p:embeddedFont>
      <p:font typeface="Open Sans"/>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5E98F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5909" y="1103948"/>
            <a:ext cx="1100257" cy="1157407"/>
          </a:xfrm>
          <a:prstGeom prst="rect">
            <a:avLst/>
          </a:prstGeom>
        </p:spPr>
      </p:pic>
      <p:sp>
        <p:nvSpPr>
          <p:cNvPr id="3" name="Text 0"/>
          <p:cNvSpPr/>
          <p:nvPr/>
        </p:nvSpPr>
        <p:spPr>
          <a:xfrm>
            <a:off x="2135981" y="1074182"/>
            <a:ext cx="11896011" cy="244197"/>
          </a:xfrm>
          <a:prstGeom prst="rect">
            <a:avLst/>
          </a:prstGeom>
          <a:noFill/>
          <a:ln/>
        </p:spPr>
        <p:txBody>
          <a:bodyPr wrap="none" lIns="0" tIns="0" rIns="0" bIns="0" rtlCol="0" anchor="t"/>
          <a:lstStyle/>
          <a:p>
            <a:pPr algn="l" indent="0" marL="0">
              <a:lnSpc>
                <a:spcPts val="1900"/>
              </a:lnSpc>
              <a:buNone/>
            </a:pPr>
            <a:r>
              <a:rPr lang="en-US" sz="1350" dirty="0">
                <a:solidFill>
                  <a:srgbClr val="000000"/>
                </a:solidFill>
                <a:latin typeface="Open Sans" pitchFamily="34" charset="0"/>
                <a:ea typeface="Open Sans" pitchFamily="34" charset="-122"/>
                <a:cs typeface="Open Sans" pitchFamily="34" charset="-120"/>
              </a:rPr>
              <a:t>Name :Cheryl Achieng ,RegNo:C027-01-2630/2021</a:t>
            </a:r>
            <a:endParaRPr lang="en-US" sz="1350" dirty="0"/>
          </a:p>
        </p:txBody>
      </p:sp>
      <p:sp>
        <p:nvSpPr>
          <p:cNvPr id="4" name="Text 1"/>
          <p:cNvSpPr/>
          <p:nvPr/>
        </p:nvSpPr>
        <p:spPr>
          <a:xfrm>
            <a:off x="605909" y="2608064"/>
            <a:ext cx="9837420" cy="540901"/>
          </a:xfrm>
          <a:prstGeom prst="rect">
            <a:avLst/>
          </a:prstGeom>
          <a:noFill/>
          <a:ln/>
        </p:spPr>
        <p:txBody>
          <a:bodyPr wrap="none" lIns="0" tIns="0" rIns="0" bIns="0" rtlCol="0" anchor="t"/>
          <a:lstStyle/>
          <a:p>
            <a:pPr algn="l" indent="0" marL="0">
              <a:lnSpc>
                <a:spcPts val="4250"/>
              </a:lnSpc>
              <a:buNone/>
            </a:pPr>
            <a:r>
              <a:rPr lang="en-US" sz="3400" b="1" dirty="0">
                <a:solidFill>
                  <a:srgbClr val="000000"/>
                </a:solidFill>
                <a:latin typeface="Unbounded Bold" pitchFamily="34" charset="0"/>
                <a:ea typeface="Unbounded Bold" pitchFamily="34" charset="-122"/>
                <a:cs typeface="Unbounded Bold" pitchFamily="34" charset="-120"/>
              </a:rPr>
              <a:t>Introduction: My Philosophy &amp; Roots</a:t>
            </a:r>
            <a:endParaRPr lang="en-US" sz="3400" dirty="0"/>
          </a:p>
        </p:txBody>
      </p:sp>
      <p:sp>
        <p:nvSpPr>
          <p:cNvPr id="5" name="Text 2"/>
          <p:cNvSpPr/>
          <p:nvPr/>
        </p:nvSpPr>
        <p:spPr>
          <a:xfrm>
            <a:off x="605909" y="3347085"/>
            <a:ext cx="13418582" cy="244197"/>
          </a:xfrm>
          <a:prstGeom prst="rect">
            <a:avLst/>
          </a:prstGeom>
          <a:noFill/>
          <a:ln/>
        </p:spPr>
        <p:txBody>
          <a:bodyPr wrap="none" lIns="0" tIns="0" rIns="0" bIns="0" rtlCol="0" anchor="t"/>
          <a:lstStyle/>
          <a:p>
            <a:pPr algn="l" indent="0" marL="0">
              <a:lnSpc>
                <a:spcPts val="1900"/>
              </a:lnSpc>
              <a:buNone/>
            </a:pPr>
            <a:r>
              <a:rPr lang="en-US" sz="1350" dirty="0">
                <a:solidFill>
                  <a:srgbClr val="000000"/>
                </a:solidFill>
                <a:latin typeface="Open Sans" pitchFamily="34" charset="0"/>
                <a:ea typeface="Open Sans" pitchFamily="34" charset="-122"/>
                <a:cs typeface="Open Sans" pitchFamily="34" charset="-120"/>
              </a:rPr>
              <a:t>My journey, from Kisumu's rhythm to Nairobi's pace and Nyeri's discipline, has shaped my core belief: adaptability is the key to thriving in any environment.</a:t>
            </a:r>
            <a:endParaRPr lang="en-US" sz="1350" dirty="0"/>
          </a:p>
        </p:txBody>
      </p:sp>
      <p:sp>
        <p:nvSpPr>
          <p:cNvPr id="6" name="Shape 3"/>
          <p:cNvSpPr/>
          <p:nvPr/>
        </p:nvSpPr>
        <p:spPr>
          <a:xfrm>
            <a:off x="605909" y="3739872"/>
            <a:ext cx="4384834" cy="3534251"/>
          </a:xfrm>
          <a:prstGeom prst="roundRect">
            <a:avLst>
              <a:gd name="adj" fmla="val 2057"/>
            </a:avLst>
          </a:prstGeom>
          <a:solidFill>
            <a:srgbClr val="D6F5EE"/>
          </a:solidFill>
          <a:ln w="7620">
            <a:solidFill>
              <a:srgbClr val="BCDBD4"/>
            </a:solidFill>
            <a:prstDash val="solid"/>
          </a:ln>
        </p:spPr>
      </p:sp>
      <p:sp>
        <p:nvSpPr>
          <p:cNvPr id="7" name="Shape 4"/>
          <p:cNvSpPr/>
          <p:nvPr/>
        </p:nvSpPr>
        <p:spPr>
          <a:xfrm>
            <a:off x="786646" y="3920609"/>
            <a:ext cx="519351" cy="519351"/>
          </a:xfrm>
          <a:prstGeom prst="roundRect">
            <a:avLst>
              <a:gd name="adj" fmla="val 17604829"/>
            </a:avLst>
          </a:prstGeom>
          <a:solidFill>
            <a:srgbClr val="26A688"/>
          </a:solidFill>
          <a:ln/>
        </p:spPr>
      </p:sp>
      <p:sp>
        <p:nvSpPr>
          <p:cNvPr id="8" name="Text 5"/>
          <p:cNvSpPr/>
          <p:nvPr/>
        </p:nvSpPr>
        <p:spPr>
          <a:xfrm>
            <a:off x="929402" y="4034195"/>
            <a:ext cx="233720" cy="292060"/>
          </a:xfrm>
          <a:prstGeom prst="rect">
            <a:avLst/>
          </a:prstGeom>
          <a:noFill/>
          <a:ln/>
        </p:spPr>
        <p:txBody>
          <a:bodyPr wrap="none" lIns="0" tIns="0" rIns="0" bIns="0" rtlCol="0" anchor="t"/>
          <a:lstStyle/>
          <a:p>
            <a:pPr algn="l" indent="0" marL="0">
              <a:lnSpc>
                <a:spcPts val="2550"/>
              </a:lnSpc>
              <a:buNone/>
            </a:pPr>
            <a:r>
              <a:rPr lang="en-US" sz="1800" b="1" dirty="0">
                <a:solidFill>
                  <a:srgbClr val="FFFFFF"/>
                </a:solidFill>
                <a:latin typeface="Unbounded Bold" pitchFamily="34" charset="0"/>
                <a:ea typeface="Unbounded Bold" pitchFamily="34" charset="-122"/>
                <a:cs typeface="Unbounded Bold" pitchFamily="34" charset="-120"/>
              </a:rPr>
              <a:t>1</a:t>
            </a:r>
            <a:endParaRPr lang="en-US" sz="1800" dirty="0"/>
          </a:p>
        </p:txBody>
      </p:sp>
      <p:sp>
        <p:nvSpPr>
          <p:cNvPr id="9" name="Text 6"/>
          <p:cNvSpPr/>
          <p:nvPr/>
        </p:nvSpPr>
        <p:spPr>
          <a:xfrm>
            <a:off x="786646" y="4572000"/>
            <a:ext cx="2914055" cy="270510"/>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Unbounded Bold" pitchFamily="34" charset="0"/>
                <a:ea typeface="Unbounded Bold" pitchFamily="34" charset="-122"/>
                <a:cs typeface="Unbounded Bold" pitchFamily="34" charset="-120"/>
              </a:rPr>
              <a:t>Architects of Destiny</a:t>
            </a:r>
            <a:endParaRPr lang="en-US" sz="1700" dirty="0"/>
          </a:p>
        </p:txBody>
      </p:sp>
      <p:sp>
        <p:nvSpPr>
          <p:cNvPr id="10" name="Text 7"/>
          <p:cNvSpPr/>
          <p:nvPr/>
        </p:nvSpPr>
        <p:spPr>
          <a:xfrm>
            <a:off x="786646" y="4921687"/>
            <a:ext cx="4023360" cy="976789"/>
          </a:xfrm>
          <a:prstGeom prst="rect">
            <a:avLst/>
          </a:prstGeom>
          <a:noFill/>
          <a:ln/>
        </p:spPr>
        <p:txBody>
          <a:bodyPr wrap="square" lIns="0" tIns="0" rIns="0" bIns="0" rtlCol="0" anchor="t"/>
          <a:lstStyle/>
          <a:p>
            <a:pPr algn="l" indent="0" marL="0">
              <a:lnSpc>
                <a:spcPts val="1900"/>
              </a:lnSpc>
              <a:buNone/>
            </a:pPr>
            <a:r>
              <a:rPr lang="en-US" sz="1350" dirty="0">
                <a:solidFill>
                  <a:srgbClr val="000000"/>
                </a:solidFill>
                <a:latin typeface="Open Sans" pitchFamily="34" charset="0"/>
                <a:ea typeface="Open Sans" pitchFamily="34" charset="-122"/>
                <a:cs typeface="Open Sans" pitchFamily="34" charset="-120"/>
              </a:rPr>
              <a:t>We build our future with materials from our environment and experiences. Success belongs to those who can thrive in any soil they are planted in.</a:t>
            </a:r>
            <a:endParaRPr lang="en-US" sz="1350" dirty="0"/>
          </a:p>
        </p:txBody>
      </p:sp>
      <p:sp>
        <p:nvSpPr>
          <p:cNvPr id="11" name="Shape 8"/>
          <p:cNvSpPr/>
          <p:nvPr/>
        </p:nvSpPr>
        <p:spPr>
          <a:xfrm>
            <a:off x="5122783" y="3739872"/>
            <a:ext cx="4384834" cy="3534251"/>
          </a:xfrm>
          <a:prstGeom prst="roundRect">
            <a:avLst>
              <a:gd name="adj" fmla="val 2057"/>
            </a:avLst>
          </a:prstGeom>
          <a:solidFill>
            <a:srgbClr val="D6F5EE"/>
          </a:solidFill>
          <a:ln w="7620">
            <a:solidFill>
              <a:srgbClr val="26A688"/>
            </a:solidFill>
            <a:prstDash val="solid"/>
          </a:ln>
        </p:spPr>
      </p:sp>
      <p:sp>
        <p:nvSpPr>
          <p:cNvPr id="12" name="Shape 9"/>
          <p:cNvSpPr/>
          <p:nvPr/>
        </p:nvSpPr>
        <p:spPr>
          <a:xfrm>
            <a:off x="5303520" y="3920609"/>
            <a:ext cx="519351" cy="519351"/>
          </a:xfrm>
          <a:prstGeom prst="roundRect">
            <a:avLst>
              <a:gd name="adj" fmla="val 17604829"/>
            </a:avLst>
          </a:prstGeom>
          <a:solidFill>
            <a:srgbClr val="26A688"/>
          </a:solidFill>
          <a:ln/>
        </p:spPr>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6276" y="4063365"/>
            <a:ext cx="233720" cy="233720"/>
          </a:xfrm>
          <a:prstGeom prst="rect">
            <a:avLst/>
          </a:prstGeom>
        </p:spPr>
      </p:pic>
      <p:sp>
        <p:nvSpPr>
          <p:cNvPr id="14" name="Text 10"/>
          <p:cNvSpPr/>
          <p:nvPr/>
        </p:nvSpPr>
        <p:spPr>
          <a:xfrm>
            <a:off x="5303520" y="4572000"/>
            <a:ext cx="3002637" cy="270510"/>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Unbounded Bold" pitchFamily="34" charset="0"/>
                <a:ea typeface="Unbounded Bold" pitchFamily="34" charset="-122"/>
                <a:cs typeface="Unbounded Bold" pitchFamily="34" charset="-120"/>
              </a:rPr>
              <a:t>Cheryl: Beloved Friend</a:t>
            </a:r>
            <a:endParaRPr lang="en-US" sz="1700" dirty="0"/>
          </a:p>
        </p:txBody>
      </p:sp>
      <p:sp>
        <p:nvSpPr>
          <p:cNvPr id="15" name="Text 11"/>
          <p:cNvSpPr/>
          <p:nvPr/>
        </p:nvSpPr>
        <p:spPr>
          <a:xfrm>
            <a:off x="5303520" y="4921687"/>
            <a:ext cx="4023360" cy="976789"/>
          </a:xfrm>
          <a:prstGeom prst="rect">
            <a:avLst/>
          </a:prstGeom>
          <a:noFill/>
          <a:ln/>
        </p:spPr>
        <p:txBody>
          <a:bodyPr wrap="square" lIns="0" tIns="0" rIns="0" bIns="0" rtlCol="0" anchor="t"/>
          <a:lstStyle/>
          <a:p>
            <a:pPr algn="l" indent="0" marL="0">
              <a:lnSpc>
                <a:spcPts val="1900"/>
              </a:lnSpc>
              <a:buNone/>
            </a:pPr>
            <a:r>
              <a:rPr lang="en-US" sz="1350" dirty="0">
                <a:solidFill>
                  <a:srgbClr val="000000"/>
                </a:solidFill>
                <a:latin typeface="Open Sans" pitchFamily="34" charset="0"/>
                <a:ea typeface="Open Sans" pitchFamily="34" charset="-122"/>
                <a:cs typeface="Open Sans" pitchFamily="34" charset="-120"/>
              </a:rPr>
              <a:t>My first name, French in origin, means "Beloved" or "Friend." A gift from my maternal aunt, it symbolizes a cherished bond and a wish for grace.</a:t>
            </a:r>
            <a:endParaRPr lang="en-US" sz="1350" dirty="0"/>
          </a:p>
        </p:txBody>
      </p:sp>
      <p:pic>
        <p:nvPicPr>
          <p:cNvPr id="16" name="Image 2" descr="preencoded.png">    </p:cNvPr>
          <p:cNvPicPr>
            <a:picLocks noChangeAspect="1"/>
          </p:cNvPicPr>
          <p:nvPr/>
        </p:nvPicPr>
        <p:blipFill>
          <a:blip r:embed="rId4"/>
          <a:stretch>
            <a:fillRect/>
          </a:stretch>
        </p:blipFill>
        <p:spPr>
          <a:xfrm>
            <a:off x="6792039" y="6047065"/>
            <a:ext cx="1046321" cy="1046321"/>
          </a:xfrm>
          <a:prstGeom prst="rect">
            <a:avLst/>
          </a:prstGeom>
        </p:spPr>
      </p:pic>
      <p:sp>
        <p:nvSpPr>
          <p:cNvPr id="17" name="Shape 12"/>
          <p:cNvSpPr/>
          <p:nvPr/>
        </p:nvSpPr>
        <p:spPr>
          <a:xfrm>
            <a:off x="9639657" y="3739872"/>
            <a:ext cx="4384834" cy="3534251"/>
          </a:xfrm>
          <a:prstGeom prst="roundRect">
            <a:avLst>
              <a:gd name="adj" fmla="val 2057"/>
            </a:avLst>
          </a:prstGeom>
          <a:solidFill>
            <a:srgbClr val="D6F5EE"/>
          </a:solidFill>
          <a:ln w="7620">
            <a:solidFill>
              <a:srgbClr val="BCDBD4"/>
            </a:solidFill>
            <a:prstDash val="solid"/>
          </a:ln>
        </p:spPr>
      </p:sp>
      <p:sp>
        <p:nvSpPr>
          <p:cNvPr id="18" name="Shape 13"/>
          <p:cNvSpPr/>
          <p:nvPr/>
        </p:nvSpPr>
        <p:spPr>
          <a:xfrm>
            <a:off x="9820394" y="3920609"/>
            <a:ext cx="519351" cy="519351"/>
          </a:xfrm>
          <a:prstGeom prst="roundRect">
            <a:avLst>
              <a:gd name="adj" fmla="val 17604829"/>
            </a:avLst>
          </a:prstGeom>
          <a:solidFill>
            <a:srgbClr val="26A688"/>
          </a:solidFill>
          <a:ln/>
        </p:spPr>
      </p:sp>
      <p:pic>
        <p:nvPicPr>
          <p:cNvPr id="19"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3150" y="4063365"/>
            <a:ext cx="233720" cy="233720"/>
          </a:xfrm>
          <a:prstGeom prst="rect">
            <a:avLst/>
          </a:prstGeom>
        </p:spPr>
      </p:pic>
      <p:sp>
        <p:nvSpPr>
          <p:cNvPr id="20" name="Text 14"/>
          <p:cNvSpPr/>
          <p:nvPr/>
        </p:nvSpPr>
        <p:spPr>
          <a:xfrm>
            <a:off x="9820394" y="4572000"/>
            <a:ext cx="3337441" cy="270510"/>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Unbounded Bold" pitchFamily="34" charset="0"/>
                <a:ea typeface="Unbounded Bold" pitchFamily="34" charset="-122"/>
                <a:cs typeface="Unbounded Bold" pitchFamily="34" charset="-120"/>
              </a:rPr>
              <a:t>Achieng: Born at Midday</a:t>
            </a:r>
            <a:endParaRPr lang="en-US" sz="1700" dirty="0"/>
          </a:p>
        </p:txBody>
      </p:sp>
      <p:sp>
        <p:nvSpPr>
          <p:cNvPr id="21" name="Text 15"/>
          <p:cNvSpPr/>
          <p:nvPr/>
        </p:nvSpPr>
        <p:spPr>
          <a:xfrm>
            <a:off x="9820394" y="4921687"/>
            <a:ext cx="4023360" cy="732592"/>
          </a:xfrm>
          <a:prstGeom prst="rect">
            <a:avLst/>
          </a:prstGeom>
          <a:noFill/>
          <a:ln/>
        </p:spPr>
        <p:txBody>
          <a:bodyPr wrap="square" lIns="0" tIns="0" rIns="0" bIns="0" rtlCol="0" anchor="t"/>
          <a:lstStyle/>
          <a:p>
            <a:pPr algn="l" indent="0" marL="0">
              <a:lnSpc>
                <a:spcPts val="1900"/>
              </a:lnSpc>
              <a:buNone/>
            </a:pPr>
            <a:r>
              <a:rPr lang="en-US" sz="1350" dirty="0">
                <a:solidFill>
                  <a:srgbClr val="000000"/>
                </a:solidFill>
                <a:latin typeface="Open Sans" pitchFamily="34" charset="0"/>
                <a:ea typeface="Open Sans" pitchFamily="34" charset="-122"/>
                <a:cs typeface="Open Sans" pitchFamily="34" charset="-120"/>
              </a:rPr>
              <a:t>My Luo name, Achieng, signifies a girl born when the sun shines brightest, typically midday. It deeply anchors me to my roots and heritage.</a:t>
            </a:r>
            <a:endParaRPr lang="en-US" sz="1350" dirty="0"/>
          </a:p>
        </p:txBody>
      </p:sp>
      <p:pic>
        <p:nvPicPr>
          <p:cNvPr id="22" name="Image 4" descr="preencoded.png">    </p:cNvPr>
          <p:cNvPicPr>
            <a:picLocks noChangeAspect="1"/>
          </p:cNvPicPr>
          <p:nvPr/>
        </p:nvPicPr>
        <p:blipFill>
          <a:blip r:embed="rId7"/>
          <a:stretch>
            <a:fillRect/>
          </a:stretch>
        </p:blipFill>
        <p:spPr>
          <a:xfrm>
            <a:off x="11287720" y="5802868"/>
            <a:ext cx="1088588" cy="9194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842373"/>
          </a:xfrm>
          <a:prstGeom prst="rect">
            <a:avLst/>
          </a:prstGeom>
        </p:spPr>
      </p:pic>
      <p:sp>
        <p:nvSpPr>
          <p:cNvPr id="3" name="Text 0"/>
          <p:cNvSpPr/>
          <p:nvPr/>
        </p:nvSpPr>
        <p:spPr>
          <a:xfrm>
            <a:off x="515779" y="3507819"/>
            <a:ext cx="4656058" cy="460534"/>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Unbounded Bold" pitchFamily="34" charset="0"/>
                <a:ea typeface="Unbounded Bold" pitchFamily="34" charset="-122"/>
                <a:cs typeface="Unbounded Bold" pitchFamily="34" charset="-120"/>
              </a:rPr>
              <a:t> Roots and Rhythms</a:t>
            </a:r>
            <a:endParaRPr lang="en-US" sz="2900" dirty="0"/>
          </a:p>
        </p:txBody>
      </p:sp>
      <p:sp>
        <p:nvSpPr>
          <p:cNvPr id="4" name="Shape 1"/>
          <p:cNvSpPr/>
          <p:nvPr/>
        </p:nvSpPr>
        <p:spPr>
          <a:xfrm>
            <a:off x="409575" y="4111943"/>
            <a:ext cx="4506516" cy="2452092"/>
          </a:xfrm>
          <a:prstGeom prst="roundRect">
            <a:avLst>
              <a:gd name="adj" fmla="val 4328"/>
            </a:avLst>
          </a:prstGeom>
          <a:solidFill>
            <a:srgbClr val="B4EEE0"/>
          </a:solidFill>
          <a:ln/>
        </p:spPr>
      </p:sp>
      <p:sp>
        <p:nvSpPr>
          <p:cNvPr id="5" name="Text 2"/>
          <p:cNvSpPr/>
          <p:nvPr/>
        </p:nvSpPr>
        <p:spPr>
          <a:xfrm>
            <a:off x="556855" y="4207669"/>
            <a:ext cx="2548890" cy="230148"/>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The Humble Beginning</a:t>
            </a:r>
            <a:endParaRPr lang="en-US" sz="1450" dirty="0"/>
          </a:p>
        </p:txBody>
      </p:sp>
      <p:sp>
        <p:nvSpPr>
          <p:cNvPr id="6" name="Text 3"/>
          <p:cNvSpPr/>
          <p:nvPr/>
        </p:nvSpPr>
        <p:spPr>
          <a:xfrm>
            <a:off x="556855" y="4533543"/>
            <a:ext cx="4211955" cy="1944291"/>
          </a:xfrm>
          <a:prstGeom prst="rect">
            <a:avLst/>
          </a:prstGeom>
          <a:noFill/>
          <a:ln/>
        </p:spPr>
        <p:txBody>
          <a:bodyPr wrap="square" lIns="0" tIns="0" rIns="0" bIns="0" rtlCol="0" anchor="t"/>
          <a:lstStyle/>
          <a:p>
            <a:pPr algn="l" indent="0" marL="0">
              <a:lnSpc>
                <a:spcPts val="1500"/>
              </a:lnSpc>
              <a:buNone/>
            </a:pPr>
            <a:r>
              <a:rPr lang="en-US" sz="1150" dirty="0">
                <a:solidFill>
                  <a:srgbClr val="333F70"/>
                </a:solidFill>
                <a:latin typeface="Open Sans" pitchFamily="34" charset="0"/>
                <a:ea typeface="Open Sans" pitchFamily="34" charset="-122"/>
                <a:cs typeface="Open Sans" pitchFamily="34" charset="-120"/>
              </a:rPr>
              <a:t>Growing up in Kisian meant living in harmony with nature's raw beauty. The air was always thick with the promise of rain or the heavy, humid heat characteristic of the Lake Victoria basin. Unlike the concrete jungle of Nairobi where I would later spend much of my life, Kisian was open and vast.. It was a humble beginning, far removed from luxury, but rich in culture and community spirit. The proximity to Kisumu meant we were never too far from civilization, yet Kisian felt like a protected enclave, a rocky cradle that shielded me during my most vulnerable years.</a:t>
            </a:r>
            <a:endParaRPr lang="en-US" sz="1150" dirty="0"/>
          </a:p>
        </p:txBody>
      </p:sp>
      <p:sp>
        <p:nvSpPr>
          <p:cNvPr id="7" name="Shape 4"/>
          <p:cNvSpPr/>
          <p:nvPr/>
        </p:nvSpPr>
        <p:spPr>
          <a:xfrm>
            <a:off x="5070872" y="4111943"/>
            <a:ext cx="4505087" cy="2452092"/>
          </a:xfrm>
          <a:prstGeom prst="roundRect">
            <a:avLst>
              <a:gd name="adj" fmla="val 4328"/>
            </a:avLst>
          </a:prstGeom>
          <a:solidFill>
            <a:srgbClr val="B4EEE0"/>
          </a:solidFill>
          <a:ln/>
        </p:spPr>
      </p:sp>
      <p:sp>
        <p:nvSpPr>
          <p:cNvPr id="8" name="Text 5"/>
          <p:cNvSpPr/>
          <p:nvPr/>
        </p:nvSpPr>
        <p:spPr>
          <a:xfrm>
            <a:off x="5218152" y="4207669"/>
            <a:ext cx="2697956" cy="230148"/>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A Family Bound by Love</a:t>
            </a:r>
            <a:endParaRPr lang="en-US" sz="1450" dirty="0"/>
          </a:p>
        </p:txBody>
      </p:sp>
      <p:sp>
        <p:nvSpPr>
          <p:cNvPr id="9" name="Text 6"/>
          <p:cNvSpPr/>
          <p:nvPr/>
        </p:nvSpPr>
        <p:spPr>
          <a:xfrm>
            <a:off x="5218152" y="4533543"/>
            <a:ext cx="4210526" cy="1555432"/>
          </a:xfrm>
          <a:prstGeom prst="rect">
            <a:avLst/>
          </a:prstGeom>
          <a:noFill/>
          <a:ln/>
        </p:spPr>
        <p:txBody>
          <a:bodyPr wrap="square" lIns="0" tIns="0" rIns="0" bIns="0" rtlCol="0" anchor="t"/>
          <a:lstStyle/>
          <a:p>
            <a:pPr algn="l" indent="0" marL="0">
              <a:lnSpc>
                <a:spcPts val="1500"/>
              </a:lnSpc>
              <a:buNone/>
            </a:pPr>
            <a:r>
              <a:rPr lang="en-US" sz="1150" dirty="0">
                <a:solidFill>
                  <a:srgbClr val="333F70"/>
                </a:solidFill>
                <a:latin typeface="Open Sans" pitchFamily="34" charset="0"/>
                <a:ea typeface="Open Sans" pitchFamily="34" charset="-122"/>
                <a:cs typeface="Open Sans" pitchFamily="34" charset="-120"/>
              </a:rPr>
              <a:t>I was born into a humble family, a unit bound together not by material wealth but by deep love and shared resilience. In the hierarchy of siblings, I occupy the fourth position out of five children. Being the "fourth born" is a unique position; you are neither the eldest bearing the weight of responsibility nor the youngest enjoying the spoils of leniency. I was in the middle of the pack, perfectly positioned to observe, learn, and be guided.</a:t>
            </a:r>
            <a:endParaRPr lang="en-US" sz="1150" dirty="0"/>
          </a:p>
        </p:txBody>
      </p:sp>
      <p:sp>
        <p:nvSpPr>
          <p:cNvPr id="10" name="Text 7"/>
          <p:cNvSpPr/>
          <p:nvPr/>
        </p:nvSpPr>
        <p:spPr>
          <a:xfrm>
            <a:off x="5218152" y="6175177"/>
            <a:ext cx="4210526" cy="194429"/>
          </a:xfrm>
          <a:prstGeom prst="rect">
            <a:avLst/>
          </a:prstGeom>
          <a:noFill/>
          <a:ln/>
        </p:spPr>
        <p:txBody>
          <a:bodyPr wrap="none" lIns="0" tIns="0" rIns="0" bIns="0" rtlCol="0" anchor="t"/>
          <a:lstStyle/>
          <a:p>
            <a:pPr algn="l" indent="0" marL="0">
              <a:lnSpc>
                <a:spcPts val="1500"/>
              </a:lnSpc>
              <a:buNone/>
            </a:pPr>
            <a:endParaRPr lang="en-US" sz="1150" dirty="0"/>
          </a:p>
        </p:txBody>
      </p:sp>
      <p:sp>
        <p:nvSpPr>
          <p:cNvPr id="11" name="Shape 8"/>
          <p:cNvSpPr/>
          <p:nvPr/>
        </p:nvSpPr>
        <p:spPr>
          <a:xfrm>
            <a:off x="9730740" y="4111943"/>
            <a:ext cx="4505087" cy="2452092"/>
          </a:xfrm>
          <a:prstGeom prst="roundRect">
            <a:avLst>
              <a:gd name="adj" fmla="val 4328"/>
            </a:avLst>
          </a:prstGeom>
          <a:solidFill>
            <a:srgbClr val="B4EEE0"/>
          </a:solidFill>
          <a:ln/>
        </p:spPr>
      </p:sp>
      <p:sp>
        <p:nvSpPr>
          <p:cNvPr id="12" name="Text 9"/>
          <p:cNvSpPr/>
          <p:nvPr/>
        </p:nvSpPr>
        <p:spPr>
          <a:xfrm>
            <a:off x="9878020" y="4207669"/>
            <a:ext cx="2409111" cy="230148"/>
          </a:xfrm>
          <a:prstGeom prst="rect">
            <a:avLst/>
          </a:prstGeom>
          <a:noFill/>
          <a:ln/>
        </p:spPr>
        <p:txBody>
          <a:bodyPr wrap="none" lIns="0" tIns="0" rIns="0" bIns="0" rtlCol="0" anchor="t"/>
          <a:lstStyle/>
          <a:p>
            <a:pPr algn="l" indent="0" marL="0">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 My First Community</a:t>
            </a:r>
            <a:endParaRPr lang="en-US" sz="1450" dirty="0"/>
          </a:p>
        </p:txBody>
      </p:sp>
      <p:sp>
        <p:nvSpPr>
          <p:cNvPr id="13" name="Text 10"/>
          <p:cNvSpPr/>
          <p:nvPr/>
        </p:nvSpPr>
        <p:spPr>
          <a:xfrm>
            <a:off x="9878020" y="4533543"/>
            <a:ext cx="4210526" cy="1749862"/>
          </a:xfrm>
          <a:prstGeom prst="rect">
            <a:avLst/>
          </a:prstGeom>
          <a:noFill/>
          <a:ln/>
        </p:spPr>
        <p:txBody>
          <a:bodyPr wrap="square" lIns="0" tIns="0" rIns="0" bIns="0" rtlCol="0" anchor="t"/>
          <a:lstStyle/>
          <a:p>
            <a:pPr algn="l" indent="0" marL="0">
              <a:lnSpc>
                <a:spcPts val="1500"/>
              </a:lnSpc>
              <a:buNone/>
            </a:pPr>
            <a:r>
              <a:rPr lang="en-US" sz="1150" dirty="0">
                <a:solidFill>
                  <a:srgbClr val="333F70"/>
                </a:solidFill>
                <a:latin typeface="Open Sans" pitchFamily="34" charset="0"/>
                <a:ea typeface="Open Sans" pitchFamily="34" charset="-122"/>
                <a:cs typeface="Open Sans" pitchFamily="34" charset="-120"/>
              </a:rPr>
              <a:t>With five children under one roof, silence was a rare luxury, but loneliness was non-existent. My relationship with my siblings was the cornerstone of my childhood social life. I spent hours playing with my older siblings, trying to keep up with their games and their conversations. They were my first teachers, my first playmates, and my first rivals. We learned to share everything from food to space to attention, instilling in me a sense of community and cooperation that I still carry today.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50388"/>
          </a:xfrm>
          <a:prstGeom prst="rect">
            <a:avLst/>
          </a:prstGeom>
        </p:spPr>
      </p:pic>
      <p:sp>
        <p:nvSpPr>
          <p:cNvPr id="3" name="Text 0"/>
          <p:cNvSpPr/>
          <p:nvPr/>
        </p:nvSpPr>
        <p:spPr>
          <a:xfrm>
            <a:off x="602099" y="3411260"/>
            <a:ext cx="6532959" cy="537567"/>
          </a:xfrm>
          <a:prstGeom prst="rect">
            <a:avLst/>
          </a:prstGeom>
          <a:noFill/>
          <a:ln/>
        </p:spPr>
        <p:txBody>
          <a:bodyPr wrap="none" lIns="0" tIns="0" rIns="0" bIns="0" rtlCol="0" anchor="t"/>
          <a:lstStyle/>
          <a:p>
            <a:pPr algn="l" indent="0" marL="0">
              <a:lnSpc>
                <a:spcPts val="4200"/>
              </a:lnSpc>
              <a:buNone/>
            </a:pPr>
            <a:r>
              <a:rPr lang="en-US" sz="3350" b="1" dirty="0">
                <a:solidFill>
                  <a:srgbClr val="000000"/>
                </a:solidFill>
                <a:latin typeface="Unbounded Bold" pitchFamily="34" charset="0"/>
                <a:ea typeface="Unbounded Bold" pitchFamily="34" charset="-122"/>
                <a:cs typeface="Unbounded Bold" pitchFamily="34" charset="-120"/>
              </a:rPr>
              <a:t>The Crucible of Learning</a:t>
            </a:r>
            <a:endParaRPr lang="en-US" sz="3350" dirty="0"/>
          </a:p>
        </p:txBody>
      </p:sp>
      <p:sp>
        <p:nvSpPr>
          <p:cNvPr id="4" name="Shape 1"/>
          <p:cNvSpPr/>
          <p:nvPr/>
        </p:nvSpPr>
        <p:spPr>
          <a:xfrm>
            <a:off x="478274" y="4144447"/>
            <a:ext cx="4444246" cy="2824282"/>
          </a:xfrm>
          <a:prstGeom prst="roundRect">
            <a:avLst>
              <a:gd name="adj" fmla="val 4386"/>
            </a:avLst>
          </a:prstGeom>
          <a:solidFill>
            <a:srgbClr val="B4EEE0"/>
          </a:solidFill>
          <a:ln/>
        </p:spPr>
      </p:sp>
      <p:sp>
        <p:nvSpPr>
          <p:cNvPr id="5" name="Text 2"/>
          <p:cNvSpPr/>
          <p:nvPr/>
        </p:nvSpPr>
        <p:spPr>
          <a:xfrm>
            <a:off x="650200" y="4274820"/>
            <a:ext cx="2938224" cy="268724"/>
          </a:xfrm>
          <a:prstGeom prst="rect">
            <a:avLst/>
          </a:prstGeom>
          <a:noFill/>
          <a:ln/>
        </p:spPr>
        <p:txBody>
          <a:bodyPr wrap="none" lIns="0" tIns="0" rIns="0" bIns="0" rtlCol="0" anchor="t"/>
          <a:lstStyle/>
          <a:p>
            <a:pPr algn="l" indent="0" marL="0">
              <a:lnSpc>
                <a:spcPts val="2100"/>
              </a:lnSpc>
              <a:buNone/>
            </a:pPr>
            <a:r>
              <a:rPr lang="en-US" sz="1650" b="1" dirty="0">
                <a:solidFill>
                  <a:srgbClr val="333F70"/>
                </a:solidFill>
                <a:latin typeface="Unbounded Bold" pitchFamily="34" charset="0"/>
                <a:ea typeface="Unbounded Bold" pitchFamily="34" charset="-122"/>
                <a:cs typeface="Unbounded Bold" pitchFamily="34" charset="-120"/>
              </a:rPr>
              <a:t>Kisian Primary School</a:t>
            </a:r>
            <a:endParaRPr lang="en-US" sz="1650" dirty="0"/>
          </a:p>
        </p:txBody>
      </p:sp>
      <p:sp>
        <p:nvSpPr>
          <p:cNvPr id="6" name="Text 3"/>
          <p:cNvSpPr/>
          <p:nvPr/>
        </p:nvSpPr>
        <p:spPr>
          <a:xfrm>
            <a:off x="650200" y="4673918"/>
            <a:ext cx="4100393" cy="2177415"/>
          </a:xfrm>
          <a:prstGeom prst="rect">
            <a:avLst/>
          </a:prstGeom>
          <a:noFill/>
          <a:ln/>
        </p:spPr>
        <p:txBody>
          <a:bodyPr wrap="square" lIns="0" tIns="0" rIns="0" bIns="0" rtlCol="0" anchor="t"/>
          <a:lstStyle/>
          <a:p>
            <a:pPr algn="l" indent="0" marL="0">
              <a:lnSpc>
                <a:spcPts val="1900"/>
              </a:lnSpc>
              <a:buNone/>
            </a:pPr>
            <a:r>
              <a:rPr lang="en-US" sz="1350" dirty="0">
                <a:solidFill>
                  <a:srgbClr val="333F70"/>
                </a:solidFill>
                <a:latin typeface="Open Sans" pitchFamily="34" charset="0"/>
                <a:ea typeface="Open Sans" pitchFamily="34" charset="-122"/>
                <a:cs typeface="Open Sans" pitchFamily="34" charset="-120"/>
              </a:rPr>
              <a:t>My formal introduction to the world of academia began at Kisian Primary School, a modest institution nestled in the rocky landscapes of my birthplace. For a young child, the transition from the safety of home to the regimented environment of a village school was nothing short of a shock. School in the village was not for the faint-hearted; it was a test of endurance as much as it was a test of intellect.</a:t>
            </a:r>
            <a:endParaRPr lang="en-US" sz="1350" dirty="0"/>
          </a:p>
        </p:txBody>
      </p:sp>
      <p:sp>
        <p:nvSpPr>
          <p:cNvPr id="7" name="Shape 4"/>
          <p:cNvSpPr/>
          <p:nvPr/>
        </p:nvSpPr>
        <p:spPr>
          <a:xfrm>
            <a:off x="5102066" y="4144447"/>
            <a:ext cx="4442817" cy="2824282"/>
          </a:xfrm>
          <a:prstGeom prst="roundRect">
            <a:avLst>
              <a:gd name="adj" fmla="val 4386"/>
            </a:avLst>
          </a:prstGeom>
          <a:solidFill>
            <a:srgbClr val="B4EEE0"/>
          </a:solidFill>
          <a:ln/>
        </p:spPr>
      </p:sp>
      <p:sp>
        <p:nvSpPr>
          <p:cNvPr id="8" name="Text 5"/>
          <p:cNvSpPr/>
          <p:nvPr/>
        </p:nvSpPr>
        <p:spPr>
          <a:xfrm>
            <a:off x="5273993" y="4274820"/>
            <a:ext cx="2553891" cy="268724"/>
          </a:xfrm>
          <a:prstGeom prst="rect">
            <a:avLst/>
          </a:prstGeom>
          <a:noFill/>
          <a:ln/>
        </p:spPr>
        <p:txBody>
          <a:bodyPr wrap="none" lIns="0" tIns="0" rIns="0" bIns="0" rtlCol="0" anchor="t"/>
          <a:lstStyle/>
          <a:p>
            <a:pPr algn="l" indent="0" marL="0">
              <a:lnSpc>
                <a:spcPts val="2100"/>
              </a:lnSpc>
              <a:buNone/>
            </a:pPr>
            <a:r>
              <a:rPr lang="en-US" sz="1650" b="1" dirty="0">
                <a:solidFill>
                  <a:srgbClr val="333F70"/>
                </a:solidFill>
                <a:latin typeface="Unbounded Bold" pitchFamily="34" charset="0"/>
                <a:ea typeface="Unbounded Bold" pitchFamily="34" charset="-122"/>
                <a:cs typeface="Unbounded Bold" pitchFamily="34" charset="-120"/>
              </a:rPr>
              <a:t>Class One and Two</a:t>
            </a:r>
            <a:endParaRPr lang="en-US" sz="1650" dirty="0"/>
          </a:p>
        </p:txBody>
      </p:sp>
      <p:sp>
        <p:nvSpPr>
          <p:cNvPr id="9" name="Text 6"/>
          <p:cNvSpPr/>
          <p:nvPr/>
        </p:nvSpPr>
        <p:spPr>
          <a:xfrm>
            <a:off x="5273993" y="4673918"/>
            <a:ext cx="4098965" cy="1935480"/>
          </a:xfrm>
          <a:prstGeom prst="rect">
            <a:avLst/>
          </a:prstGeom>
          <a:noFill/>
          <a:ln/>
        </p:spPr>
        <p:txBody>
          <a:bodyPr wrap="square" lIns="0" tIns="0" rIns="0" bIns="0" rtlCol="0" anchor="t"/>
          <a:lstStyle/>
          <a:p>
            <a:pPr algn="l" indent="0" marL="0">
              <a:lnSpc>
                <a:spcPts val="1900"/>
              </a:lnSpc>
              <a:buNone/>
            </a:pPr>
            <a:r>
              <a:rPr lang="en-US" sz="1350" dirty="0">
                <a:solidFill>
                  <a:srgbClr val="333F70"/>
                </a:solidFill>
                <a:latin typeface="Open Sans" pitchFamily="34" charset="0"/>
                <a:ea typeface="Open Sans" pitchFamily="34" charset="-122"/>
                <a:cs typeface="Open Sans" pitchFamily="34" charset="-120"/>
              </a:rPr>
              <a:t>I attended Kisian for Class One and Two. Looking back, those years are painted in the sepia tones of dust and discipline. The classrooms were simple, the resources were scarce, and the discipline was swift. I remember the mornings being particularly difficult—waking up before the sun had fully risen, the air crisp and cold, and preparing for a day that felt impossibly long.</a:t>
            </a:r>
            <a:endParaRPr lang="en-US" sz="1350" dirty="0"/>
          </a:p>
        </p:txBody>
      </p:sp>
      <p:sp>
        <p:nvSpPr>
          <p:cNvPr id="10" name="Shape 7"/>
          <p:cNvSpPr/>
          <p:nvPr/>
        </p:nvSpPr>
        <p:spPr>
          <a:xfrm>
            <a:off x="9724430" y="4144447"/>
            <a:ext cx="4442817" cy="2824282"/>
          </a:xfrm>
          <a:prstGeom prst="roundRect">
            <a:avLst>
              <a:gd name="adj" fmla="val 4386"/>
            </a:avLst>
          </a:prstGeom>
          <a:solidFill>
            <a:srgbClr val="B4EEE0"/>
          </a:solidFill>
          <a:ln/>
        </p:spPr>
      </p:sp>
      <p:sp>
        <p:nvSpPr>
          <p:cNvPr id="11" name="Text 8"/>
          <p:cNvSpPr/>
          <p:nvPr/>
        </p:nvSpPr>
        <p:spPr>
          <a:xfrm>
            <a:off x="9896356" y="4274820"/>
            <a:ext cx="2676763" cy="268724"/>
          </a:xfrm>
          <a:prstGeom prst="rect">
            <a:avLst/>
          </a:prstGeom>
          <a:noFill/>
          <a:ln/>
        </p:spPr>
        <p:txBody>
          <a:bodyPr wrap="none" lIns="0" tIns="0" rIns="0" bIns="0" rtlCol="0" anchor="t"/>
          <a:lstStyle/>
          <a:p>
            <a:pPr algn="l" indent="0" marL="0">
              <a:lnSpc>
                <a:spcPts val="2100"/>
              </a:lnSpc>
              <a:buNone/>
            </a:pPr>
            <a:r>
              <a:rPr lang="en-US" sz="1650" b="1" dirty="0">
                <a:solidFill>
                  <a:srgbClr val="333F70"/>
                </a:solidFill>
                <a:latin typeface="Unbounded Bold" pitchFamily="34" charset="0"/>
                <a:ea typeface="Unbounded Bold" pitchFamily="34" charset="-122"/>
                <a:cs typeface="Unbounded Bold" pitchFamily="34" charset="-120"/>
              </a:rPr>
              <a:t>The Move to Nairobi</a:t>
            </a:r>
            <a:endParaRPr lang="en-US" sz="1650" dirty="0"/>
          </a:p>
        </p:txBody>
      </p:sp>
      <p:sp>
        <p:nvSpPr>
          <p:cNvPr id="12" name="Text 9"/>
          <p:cNvSpPr/>
          <p:nvPr/>
        </p:nvSpPr>
        <p:spPr>
          <a:xfrm>
            <a:off x="9896356" y="4673918"/>
            <a:ext cx="4098965" cy="1693545"/>
          </a:xfrm>
          <a:prstGeom prst="rect">
            <a:avLst/>
          </a:prstGeom>
          <a:noFill/>
          <a:ln/>
        </p:spPr>
        <p:txBody>
          <a:bodyPr wrap="square" lIns="0" tIns="0" rIns="0" bIns="0" rtlCol="0" anchor="t"/>
          <a:lstStyle/>
          <a:p>
            <a:pPr algn="l" indent="0" marL="0">
              <a:lnSpc>
                <a:spcPts val="1900"/>
              </a:lnSpc>
              <a:buNone/>
            </a:pPr>
            <a:r>
              <a:rPr lang="en-US" sz="1350" dirty="0">
                <a:solidFill>
                  <a:srgbClr val="333F70"/>
                </a:solidFill>
                <a:latin typeface="Open Sans" pitchFamily="34" charset="0"/>
                <a:ea typeface="Open Sans" pitchFamily="34" charset="-122"/>
                <a:cs typeface="Open Sans" pitchFamily="34" charset="-120"/>
              </a:rPr>
              <a:t>The trajectory of my life shifted dramatically when I moved to Nairobi to join Class Three. I was enrolled at Milimani Primary School, a shift that felt like moving to a different planet. Gone were the dusty, open fields of Kisian; in their place were the concrete structures and the fast-paced energy of the capital city.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52" y="874038"/>
            <a:ext cx="9458206" cy="642699"/>
          </a:xfrm>
          <a:prstGeom prst="rect">
            <a:avLst/>
          </a:prstGeom>
          <a:noFill/>
          <a:ln/>
        </p:spPr>
        <p:txBody>
          <a:bodyPr wrap="none" lIns="0" tIns="0" rIns="0" bIns="0" rtlCol="0" anchor="t"/>
          <a:lstStyle/>
          <a:p>
            <a:pPr algn="l" indent="0" marL="0">
              <a:lnSpc>
                <a:spcPts val="5050"/>
              </a:lnSpc>
              <a:buNone/>
            </a:pPr>
            <a:r>
              <a:rPr lang="en-US" sz="4000" b="1" dirty="0">
                <a:solidFill>
                  <a:srgbClr val="000000"/>
                </a:solidFill>
                <a:latin typeface="Unbounded Bold" pitchFamily="34" charset="0"/>
                <a:ea typeface="Unbounded Bold" pitchFamily="34" charset="-122"/>
                <a:cs typeface="Unbounded Bold" pitchFamily="34" charset="-120"/>
              </a:rPr>
              <a:t>The Return and the Resilience</a:t>
            </a:r>
            <a:endParaRPr lang="en-US" sz="4000" dirty="0"/>
          </a:p>
        </p:txBody>
      </p:sp>
      <p:sp>
        <p:nvSpPr>
          <p:cNvPr id="3" name="Text 1"/>
          <p:cNvSpPr/>
          <p:nvPr/>
        </p:nvSpPr>
        <p:spPr>
          <a:xfrm>
            <a:off x="719852" y="1591270"/>
            <a:ext cx="5278755" cy="514112"/>
          </a:xfrm>
          <a:prstGeom prst="rect">
            <a:avLst/>
          </a:prstGeom>
          <a:noFill/>
          <a:ln/>
        </p:spPr>
        <p:txBody>
          <a:bodyPr wrap="none" lIns="0" tIns="0" rIns="0" bIns="0" rtlCol="0" anchor="t"/>
          <a:lstStyle/>
          <a:p>
            <a:pPr algn="l" indent="0" marL="0">
              <a:lnSpc>
                <a:spcPts val="4000"/>
              </a:lnSpc>
              <a:buNone/>
            </a:pPr>
            <a:r>
              <a:rPr lang="en-US" sz="3200" b="1" dirty="0">
                <a:solidFill>
                  <a:srgbClr val="000000"/>
                </a:solidFill>
                <a:latin typeface="Unbounded Bold" pitchFamily="34" charset="0"/>
                <a:ea typeface="Unbounded Bold" pitchFamily="34" charset="-122"/>
                <a:cs typeface="Unbounded Bold" pitchFamily="34" charset="-120"/>
              </a:rPr>
              <a:t>The Disappointment</a:t>
            </a:r>
            <a:endParaRPr lang="en-US" sz="3200" dirty="0"/>
          </a:p>
        </p:txBody>
      </p:sp>
      <p:sp>
        <p:nvSpPr>
          <p:cNvPr id="4" name="Text 2"/>
          <p:cNvSpPr/>
          <p:nvPr/>
        </p:nvSpPr>
        <p:spPr>
          <a:xfrm>
            <a:off x="719852" y="2385060"/>
            <a:ext cx="13190696" cy="941189"/>
          </a:xfrm>
          <a:prstGeom prst="rect">
            <a:avLst/>
          </a:prstGeom>
          <a:noFill/>
          <a:ln/>
        </p:spPr>
        <p:txBody>
          <a:bodyPr wrap="square" lIns="0" tIns="0" rIns="0" bIns="0" rtlCol="0" anchor="t"/>
          <a:lstStyle/>
          <a:p>
            <a:pPr algn="l" indent="0" marL="0">
              <a:lnSpc>
                <a:spcPts val="2450"/>
              </a:lnSpc>
              <a:buNone/>
            </a:pPr>
            <a:r>
              <a:rPr lang="en-US" sz="1600" dirty="0">
                <a:solidFill>
                  <a:srgbClr val="000000"/>
                </a:solidFill>
                <a:latin typeface="Open Sans" pitchFamily="34" charset="0"/>
                <a:ea typeface="Open Sans" pitchFamily="34" charset="-122"/>
                <a:cs typeface="Open Sans" pitchFamily="34" charset="-120"/>
              </a:rPr>
              <a:t>My transition from primary school to high school was not the triumphant march I had hoped for. In the high-stakes lottery of the Kenyan education system, my KCPE performance did not secure me a spot in the prestigious National Schools of Nairobi or the central regions. I had missed the mark for the 'big city' schools I had dreamed of attending.</a:t>
            </a:r>
            <a:endParaRPr lang="en-US" sz="1600" dirty="0"/>
          </a:p>
        </p:txBody>
      </p:sp>
      <p:sp>
        <p:nvSpPr>
          <p:cNvPr id="5" name="Text 3"/>
          <p:cNvSpPr/>
          <p:nvPr/>
        </p:nvSpPr>
        <p:spPr>
          <a:xfrm>
            <a:off x="719852" y="3605927"/>
            <a:ext cx="7083623" cy="514112"/>
          </a:xfrm>
          <a:prstGeom prst="rect">
            <a:avLst/>
          </a:prstGeom>
          <a:noFill/>
          <a:ln/>
        </p:spPr>
        <p:txBody>
          <a:bodyPr wrap="none" lIns="0" tIns="0" rIns="0" bIns="0" rtlCol="0" anchor="t"/>
          <a:lstStyle/>
          <a:p>
            <a:pPr algn="l" indent="0" marL="0">
              <a:lnSpc>
                <a:spcPts val="4000"/>
              </a:lnSpc>
              <a:buNone/>
            </a:pPr>
            <a:r>
              <a:rPr lang="en-US" sz="3200" b="1" dirty="0">
                <a:solidFill>
                  <a:srgbClr val="000000"/>
                </a:solidFill>
                <a:latin typeface="Unbounded Bold" pitchFamily="34" charset="0"/>
                <a:ea typeface="Unbounded Bold" pitchFamily="34" charset="-122"/>
                <a:cs typeface="Unbounded Bold" pitchFamily="34" charset="-120"/>
              </a:rPr>
              <a:t>Boarding School: A Crucible</a:t>
            </a:r>
            <a:endParaRPr lang="en-US" sz="3200" dirty="0"/>
          </a:p>
        </p:txBody>
      </p:sp>
      <p:sp>
        <p:nvSpPr>
          <p:cNvPr id="6" name="Text 4"/>
          <p:cNvSpPr/>
          <p:nvPr/>
        </p:nvSpPr>
        <p:spPr>
          <a:xfrm>
            <a:off x="719852" y="4399717"/>
            <a:ext cx="13190696" cy="941189"/>
          </a:xfrm>
          <a:prstGeom prst="rect">
            <a:avLst/>
          </a:prstGeom>
          <a:noFill/>
          <a:ln/>
        </p:spPr>
        <p:txBody>
          <a:bodyPr wrap="square" lIns="0" tIns="0" rIns="0" bIns="0" rtlCol="0" anchor="t"/>
          <a:lstStyle/>
          <a:p>
            <a:pPr algn="l" indent="0" marL="0">
              <a:lnSpc>
                <a:spcPts val="2450"/>
              </a:lnSpc>
              <a:buNone/>
            </a:pPr>
            <a:r>
              <a:rPr lang="en-US" sz="1600" dirty="0">
                <a:solidFill>
                  <a:srgbClr val="000000"/>
                </a:solidFill>
                <a:latin typeface="Open Sans" pitchFamily="34" charset="0"/>
                <a:ea typeface="Open Sans" pitchFamily="34" charset="-122"/>
                <a:cs typeface="Open Sans" pitchFamily="34" charset="-120"/>
              </a:rPr>
              <a:t>To be brutally honest, I hated the initial adjustment to boarding life in Nyanza. It was a culture shock that hit me with the force of a physical blow. I despised the lack of privacy and the rigid regimentation. Every hour was accounted for, from the pre-dawn preps to the lights-out bell. However, looking back, I realize this environment was a crucible that forged my resilience.</a:t>
            </a:r>
            <a:endParaRPr lang="en-US" sz="1600" dirty="0"/>
          </a:p>
        </p:txBody>
      </p:sp>
      <p:sp>
        <p:nvSpPr>
          <p:cNvPr id="7" name="Text 5"/>
          <p:cNvSpPr/>
          <p:nvPr/>
        </p:nvSpPr>
        <p:spPr>
          <a:xfrm>
            <a:off x="719852" y="5620583"/>
            <a:ext cx="4113728" cy="514112"/>
          </a:xfrm>
          <a:prstGeom prst="rect">
            <a:avLst/>
          </a:prstGeom>
          <a:noFill/>
          <a:ln/>
        </p:spPr>
        <p:txBody>
          <a:bodyPr wrap="none" lIns="0" tIns="0" rIns="0" bIns="0" rtlCol="0" anchor="t"/>
          <a:lstStyle/>
          <a:p>
            <a:pPr algn="l" indent="0" marL="0">
              <a:lnSpc>
                <a:spcPts val="4000"/>
              </a:lnSpc>
              <a:buNone/>
            </a:pPr>
            <a:r>
              <a:rPr lang="en-US" sz="3200" b="1" dirty="0">
                <a:solidFill>
                  <a:srgbClr val="000000"/>
                </a:solidFill>
                <a:latin typeface="Unbounded Bold" pitchFamily="34" charset="0"/>
                <a:ea typeface="Unbounded Bold" pitchFamily="34" charset="-122"/>
                <a:cs typeface="Unbounded Bold" pitchFamily="34" charset="-120"/>
              </a:rPr>
              <a:t>The Victory</a:t>
            </a:r>
            <a:endParaRPr lang="en-US" sz="3200" dirty="0"/>
          </a:p>
        </p:txBody>
      </p:sp>
      <p:sp>
        <p:nvSpPr>
          <p:cNvPr id="8" name="Text 6"/>
          <p:cNvSpPr/>
          <p:nvPr/>
        </p:nvSpPr>
        <p:spPr>
          <a:xfrm>
            <a:off x="719852" y="6414373"/>
            <a:ext cx="13190696" cy="941189"/>
          </a:xfrm>
          <a:prstGeom prst="rect">
            <a:avLst/>
          </a:prstGeom>
          <a:noFill/>
          <a:ln/>
        </p:spPr>
        <p:txBody>
          <a:bodyPr wrap="square" lIns="0" tIns="0" rIns="0" bIns="0" rtlCol="0" anchor="t"/>
          <a:lstStyle/>
          <a:p>
            <a:pPr algn="l" indent="0" marL="0">
              <a:lnSpc>
                <a:spcPts val="2450"/>
              </a:lnSpc>
              <a:buNone/>
            </a:pPr>
            <a:r>
              <a:rPr lang="en-US" sz="1600" dirty="0">
                <a:solidFill>
                  <a:srgbClr val="000000"/>
                </a:solidFill>
                <a:latin typeface="Open Sans" pitchFamily="34" charset="0"/>
                <a:ea typeface="Open Sans" pitchFamily="34" charset="-122"/>
                <a:cs typeface="Open Sans" pitchFamily="34" charset="-120"/>
              </a:rPr>
              <a:t>When the KCSE results were released, the relief was overwhelming. I had managed to pass and earned admission to Dedan Kimathi University of Technology (DKUT). I had entered Nyawara Girls as a disappointed child, but I was leaving as a qualified young woman headed for a university named after a freedom fighter. The hardships had paid off.</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759863"/>
          </a:xfrm>
          <a:prstGeom prst="rect">
            <a:avLst/>
          </a:prstGeom>
        </p:spPr>
      </p:pic>
      <p:sp>
        <p:nvSpPr>
          <p:cNvPr id="3" name="Text 0"/>
          <p:cNvSpPr/>
          <p:nvPr/>
        </p:nvSpPr>
        <p:spPr>
          <a:xfrm>
            <a:off x="492681" y="3123248"/>
            <a:ext cx="4246959" cy="439936"/>
          </a:xfrm>
          <a:prstGeom prst="rect">
            <a:avLst/>
          </a:prstGeom>
          <a:noFill/>
          <a:ln/>
        </p:spPr>
        <p:txBody>
          <a:bodyPr wrap="none" lIns="0" tIns="0" rIns="0" bIns="0" rtlCol="0" anchor="t"/>
          <a:lstStyle/>
          <a:p>
            <a:pPr algn="l" indent="0" marL="0">
              <a:lnSpc>
                <a:spcPts val="3450"/>
              </a:lnSpc>
              <a:buNone/>
            </a:pPr>
            <a:r>
              <a:rPr lang="en-US" sz="2750" b="1" dirty="0">
                <a:solidFill>
                  <a:srgbClr val="000000"/>
                </a:solidFill>
                <a:latin typeface="Unbounded Bold" pitchFamily="34" charset="0"/>
                <a:ea typeface="Unbounded Bold" pitchFamily="34" charset="-122"/>
                <a:cs typeface="Unbounded Bold" pitchFamily="34" charset="-120"/>
              </a:rPr>
              <a:t>The Highland Forge</a:t>
            </a:r>
            <a:endParaRPr lang="en-US" sz="2750" dirty="0"/>
          </a:p>
        </p:txBody>
      </p:sp>
      <p:sp>
        <p:nvSpPr>
          <p:cNvPr id="4" name="Text 1"/>
          <p:cNvSpPr/>
          <p:nvPr/>
        </p:nvSpPr>
        <p:spPr>
          <a:xfrm>
            <a:off x="492681" y="3598069"/>
            <a:ext cx="2815709" cy="35194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Unbounded Bold" pitchFamily="34" charset="0"/>
                <a:ea typeface="Unbounded Bold" pitchFamily="34" charset="-122"/>
                <a:cs typeface="Unbounded Bold" pitchFamily="34" charset="-120"/>
              </a:rPr>
              <a:t>Admission Day</a:t>
            </a:r>
            <a:endParaRPr lang="en-US" sz="2200" dirty="0"/>
          </a:p>
        </p:txBody>
      </p:sp>
      <p:sp>
        <p:nvSpPr>
          <p:cNvPr id="5" name="Text 2"/>
          <p:cNvSpPr/>
          <p:nvPr/>
        </p:nvSpPr>
        <p:spPr>
          <a:xfrm>
            <a:off x="492681" y="4080986"/>
            <a:ext cx="13645039" cy="364808"/>
          </a:xfrm>
          <a:prstGeom prst="rect">
            <a:avLst/>
          </a:prstGeom>
          <a:noFill/>
          <a:ln/>
        </p:spPr>
        <p:txBody>
          <a:bodyPr wrap="square" lIns="0" tIns="0" rIns="0" bIns="0" rtlCol="0" anchor="t"/>
          <a:lstStyle/>
          <a:p>
            <a:pPr algn="l" indent="0" marL="0">
              <a:lnSpc>
                <a:spcPts val="1400"/>
              </a:lnSpc>
              <a:buNone/>
            </a:pPr>
            <a:r>
              <a:rPr lang="en-US" sz="1100" dirty="0">
                <a:solidFill>
                  <a:srgbClr val="000000"/>
                </a:solidFill>
                <a:latin typeface="Open Sans" pitchFamily="34" charset="0"/>
                <a:ea typeface="Open Sans" pitchFamily="34" charset="-122"/>
                <a:cs typeface="Open Sans" pitchFamily="34" charset="-120"/>
              </a:rPr>
              <a:t>The journey to Dedan Kimathi University of Technology (DKUT) felt like an ascent in more ways than one. Geographically, I was moving to the central highlands, a place where the air was thinner, crisper, and significantly colder than the lakeside warmth I was used to. Emotionally, I was climbing to a new level of independence.</a:t>
            </a:r>
            <a:endParaRPr lang="en-US" sz="1100" dirty="0"/>
          </a:p>
        </p:txBody>
      </p:sp>
      <p:sp>
        <p:nvSpPr>
          <p:cNvPr id="6" name="Text 3"/>
          <p:cNvSpPr/>
          <p:nvPr/>
        </p:nvSpPr>
        <p:spPr>
          <a:xfrm>
            <a:off x="492681" y="4544020"/>
            <a:ext cx="13645039" cy="547211"/>
          </a:xfrm>
          <a:prstGeom prst="rect">
            <a:avLst/>
          </a:prstGeom>
          <a:noFill/>
          <a:ln/>
        </p:spPr>
        <p:txBody>
          <a:bodyPr wrap="square" lIns="0" tIns="0" rIns="0" bIns="0" rtlCol="0" anchor="t"/>
          <a:lstStyle/>
          <a:p>
            <a:pPr algn="l" indent="0" marL="0">
              <a:lnSpc>
                <a:spcPts val="1400"/>
              </a:lnSpc>
              <a:buNone/>
            </a:pPr>
            <a:r>
              <a:rPr lang="en-US" sz="1100" dirty="0">
                <a:solidFill>
                  <a:srgbClr val="000000"/>
                </a:solidFill>
                <a:latin typeface="Open Sans" pitchFamily="34" charset="0"/>
                <a:ea typeface="Open Sans" pitchFamily="34" charset="-122"/>
                <a:cs typeface="Open Sans" pitchFamily="34" charset="-120"/>
              </a:rPr>
              <a:t>Admission day was a kaleidoscope of chaos. The university gates were flooded with thousands of fresh faces, confused parents, and aggressive hawkers selling buckets and mattresses. The atmosphere was thick with anxiety and excitement. Unlike many of my peers who were escorted by their parents, my arrival was slightly different. My parents did not accompany me that day; instead, I was flanked by my seasoned veterans my older brother and sister.</a:t>
            </a:r>
            <a:endParaRPr lang="en-US" sz="1100" dirty="0"/>
          </a:p>
        </p:txBody>
      </p:sp>
      <p:sp>
        <p:nvSpPr>
          <p:cNvPr id="7" name="Text 4"/>
          <p:cNvSpPr/>
          <p:nvPr/>
        </p:nvSpPr>
        <p:spPr>
          <a:xfrm>
            <a:off x="492681" y="5222200"/>
            <a:ext cx="2846784" cy="35194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Unbounded Bold" pitchFamily="34" charset="0"/>
                <a:ea typeface="Unbounded Bold" pitchFamily="34" charset="-122"/>
                <a:cs typeface="Unbounded Bold" pitchFamily="34" charset="-120"/>
              </a:rPr>
              <a:t>Finding My Path</a:t>
            </a:r>
            <a:endParaRPr lang="en-US" sz="2200" dirty="0"/>
          </a:p>
        </p:txBody>
      </p:sp>
      <p:sp>
        <p:nvSpPr>
          <p:cNvPr id="8" name="Text 5"/>
          <p:cNvSpPr/>
          <p:nvPr/>
        </p:nvSpPr>
        <p:spPr>
          <a:xfrm>
            <a:off x="492681" y="5705118"/>
            <a:ext cx="13645039" cy="364808"/>
          </a:xfrm>
          <a:prstGeom prst="rect">
            <a:avLst/>
          </a:prstGeom>
          <a:noFill/>
          <a:ln/>
        </p:spPr>
        <p:txBody>
          <a:bodyPr wrap="square" lIns="0" tIns="0" rIns="0" bIns="0" rtlCol="0" anchor="t"/>
          <a:lstStyle/>
          <a:p>
            <a:pPr algn="l" indent="0" marL="0">
              <a:lnSpc>
                <a:spcPts val="1400"/>
              </a:lnSpc>
              <a:buNone/>
            </a:pPr>
            <a:r>
              <a:rPr lang="en-US" sz="1100" dirty="0">
                <a:solidFill>
                  <a:srgbClr val="000000"/>
                </a:solidFill>
                <a:latin typeface="Open Sans" pitchFamily="34" charset="0"/>
                <a:ea typeface="Open Sans" pitchFamily="34" charset="-122"/>
                <a:cs typeface="Open Sans" pitchFamily="34" charset="-120"/>
              </a:rPr>
              <a:t>I stood at a crossroads, unsure of which path to commit to. Choosing pure Computer Science felt like abandoning my business interests, while choosing Commerce felt like leaving my technical curiosity behind. The solution came in the form of a hybrid: Bachelor of Science in Business and Information Technology (BBIT). It was the perfect marriage of my two worlds.</a:t>
            </a:r>
            <a:endParaRPr lang="en-US" sz="1100" dirty="0"/>
          </a:p>
        </p:txBody>
      </p:sp>
      <p:sp>
        <p:nvSpPr>
          <p:cNvPr id="9" name="Text 6"/>
          <p:cNvSpPr/>
          <p:nvPr/>
        </p:nvSpPr>
        <p:spPr>
          <a:xfrm>
            <a:off x="492681" y="6200894"/>
            <a:ext cx="3450193" cy="35194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Unbounded Bold" pitchFamily="34" charset="0"/>
                <a:ea typeface="Unbounded Bold" pitchFamily="34" charset="-122"/>
                <a:cs typeface="Unbounded Bold" pitchFamily="34" charset="-120"/>
              </a:rPr>
              <a:t>Finding Community</a:t>
            </a:r>
            <a:endParaRPr lang="en-US" sz="2200" dirty="0"/>
          </a:p>
        </p:txBody>
      </p:sp>
      <p:sp>
        <p:nvSpPr>
          <p:cNvPr id="10" name="Text 7"/>
          <p:cNvSpPr/>
          <p:nvPr/>
        </p:nvSpPr>
        <p:spPr>
          <a:xfrm>
            <a:off x="492681" y="6683812"/>
            <a:ext cx="13645039" cy="182404"/>
          </a:xfrm>
          <a:prstGeom prst="rect">
            <a:avLst/>
          </a:prstGeom>
          <a:noFill/>
          <a:ln/>
        </p:spPr>
        <p:txBody>
          <a:bodyPr wrap="none" lIns="0" tIns="0" rIns="0" bIns="0" rtlCol="0" anchor="t"/>
          <a:lstStyle/>
          <a:p>
            <a:pPr algn="l" indent="0" marL="0">
              <a:lnSpc>
                <a:spcPts val="1400"/>
              </a:lnSpc>
              <a:buNone/>
            </a:pPr>
            <a:r>
              <a:rPr lang="en-US" sz="1100" dirty="0">
                <a:solidFill>
                  <a:srgbClr val="000000"/>
                </a:solidFill>
                <a:latin typeface="Open Sans" pitchFamily="34" charset="0"/>
                <a:ea typeface="Open Sans" pitchFamily="34" charset="-122"/>
                <a:cs typeface="Open Sans" pitchFamily="34" charset="-120"/>
              </a:rPr>
              <a:t>To further anchor myself in the university community, I sought out clubs that resonated with my diverse interests. I found a home in The marketing student association of Dekut.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992273"/>
          </a:xfrm>
          <a:prstGeom prst="rect">
            <a:avLst/>
          </a:prstGeom>
        </p:spPr>
      </p:pic>
      <p:sp>
        <p:nvSpPr>
          <p:cNvPr id="3" name="Text 0"/>
          <p:cNvSpPr/>
          <p:nvPr/>
        </p:nvSpPr>
        <p:spPr>
          <a:xfrm>
            <a:off x="557808" y="3371136"/>
            <a:ext cx="3984546" cy="498038"/>
          </a:xfrm>
          <a:prstGeom prst="rect">
            <a:avLst/>
          </a:prstGeom>
          <a:noFill/>
          <a:ln/>
        </p:spPr>
        <p:txBody>
          <a:bodyPr wrap="none" lIns="0" tIns="0" rIns="0" bIns="0" rtlCol="0" anchor="t"/>
          <a:lstStyle/>
          <a:p>
            <a:pPr algn="l" indent="0" marL="0">
              <a:lnSpc>
                <a:spcPts val="3900"/>
              </a:lnSpc>
              <a:buNone/>
            </a:pPr>
            <a:r>
              <a:rPr lang="en-US" sz="3100" b="1" dirty="0">
                <a:solidFill>
                  <a:srgbClr val="000000"/>
                </a:solidFill>
                <a:latin typeface="Unbounded Bold" pitchFamily="34" charset="0"/>
                <a:ea typeface="Unbounded Bold" pitchFamily="34" charset="-122"/>
                <a:cs typeface="Unbounded Bold" pitchFamily="34" charset="-120"/>
              </a:rPr>
              <a:t>Challenges </a:t>
            </a:r>
            <a:endParaRPr lang="en-US" sz="3100" dirty="0"/>
          </a:p>
        </p:txBody>
      </p:sp>
      <p:sp>
        <p:nvSpPr>
          <p:cNvPr id="4" name="Text 1"/>
          <p:cNvSpPr/>
          <p:nvPr/>
        </p:nvSpPr>
        <p:spPr>
          <a:xfrm>
            <a:off x="557808" y="4037052"/>
            <a:ext cx="13514784" cy="434102"/>
          </a:xfrm>
          <a:prstGeom prst="rect">
            <a:avLst/>
          </a:prstGeom>
          <a:noFill/>
          <a:ln/>
        </p:spPr>
        <p:txBody>
          <a:bodyPr wrap="square" lIns="0" tIns="0" rIns="0" bIns="0" rtlCol="0" anchor="t"/>
          <a:lstStyle/>
          <a:p>
            <a:pPr algn="l" indent="0" marL="0">
              <a:lnSpc>
                <a:spcPts val="1700"/>
              </a:lnSpc>
              <a:buNone/>
            </a:pPr>
            <a:r>
              <a:rPr lang="en-US" sz="1250" dirty="0">
                <a:solidFill>
                  <a:srgbClr val="000000"/>
                </a:solidFill>
                <a:latin typeface="Open Sans" pitchFamily="34" charset="0"/>
                <a:ea typeface="Open Sans" pitchFamily="34" charset="-122"/>
                <a:cs typeface="Open Sans" pitchFamily="34" charset="-120"/>
              </a:rPr>
              <a:t>It is often said that money is not everything, but in the context of higher education, it is the fuel that keeps the engine running. My most significant challenge during my time at Dedan Kimathi University was not an academic concept I couldn't grasp or a complex code I couldn't crack; it was the harsh reality of financial constraints.</a:t>
            </a:r>
            <a:endParaRPr lang="en-US" sz="1250" dirty="0"/>
          </a:p>
        </p:txBody>
      </p:sp>
      <p:sp>
        <p:nvSpPr>
          <p:cNvPr id="5" name="Text 2"/>
          <p:cNvSpPr/>
          <p:nvPr/>
        </p:nvSpPr>
        <p:spPr>
          <a:xfrm>
            <a:off x="557808" y="4597122"/>
            <a:ext cx="13514784" cy="651153"/>
          </a:xfrm>
          <a:prstGeom prst="rect">
            <a:avLst/>
          </a:prstGeom>
          <a:noFill/>
          <a:ln/>
        </p:spPr>
        <p:txBody>
          <a:bodyPr wrap="square" lIns="0" tIns="0" rIns="0" bIns="0" rtlCol="0" anchor="t"/>
          <a:lstStyle/>
          <a:p>
            <a:pPr algn="l" indent="0" marL="0">
              <a:lnSpc>
                <a:spcPts val="1700"/>
              </a:lnSpc>
              <a:buNone/>
            </a:pPr>
            <a:r>
              <a:rPr lang="en-US" sz="1250" dirty="0">
                <a:solidFill>
                  <a:srgbClr val="000000"/>
                </a:solidFill>
                <a:latin typeface="Open Sans" pitchFamily="34" charset="0"/>
                <a:ea typeface="Open Sans" pitchFamily="34" charset="-122"/>
                <a:cs typeface="Open Sans" pitchFamily="34" charset="-120"/>
              </a:rPr>
              <a:t>There came a point in my academic journey where the resources simply ran dry. Despite the best efforts of my guardians, the economic strain became too heavy to sustain the continuous flow of tuition and living expenses. It was a moment of reckoning. I remember the sinking feeling of realizing that while my mind was ready to learn, my pocket was unable to support that ambition. I was faced with a difficult choice: accumulate insurmountable debt and study in anxiety, or take a strategic pause to regroup. I chose the latter.</a:t>
            </a:r>
            <a:endParaRPr lang="en-US" sz="1250" dirty="0"/>
          </a:p>
        </p:txBody>
      </p:sp>
      <p:sp>
        <p:nvSpPr>
          <p:cNvPr id="6" name="Text 3"/>
          <p:cNvSpPr/>
          <p:nvPr/>
        </p:nvSpPr>
        <p:spPr>
          <a:xfrm>
            <a:off x="557808" y="5416153"/>
            <a:ext cx="3187660" cy="398383"/>
          </a:xfrm>
          <a:prstGeom prst="rect">
            <a:avLst/>
          </a:prstGeom>
          <a:noFill/>
          <a:ln/>
        </p:spPr>
        <p:txBody>
          <a:bodyPr wrap="none" lIns="0" tIns="0" rIns="0" bIns="0" rtlCol="0" anchor="t"/>
          <a:lstStyle/>
          <a:p>
            <a:pPr algn="l" indent="0" marL="0">
              <a:lnSpc>
                <a:spcPts val="3100"/>
              </a:lnSpc>
              <a:buNone/>
            </a:pPr>
            <a:r>
              <a:rPr lang="en-US" sz="2500" b="1" dirty="0">
                <a:solidFill>
                  <a:srgbClr val="000000"/>
                </a:solidFill>
                <a:latin typeface="Unbounded Bold" pitchFamily="34" charset="0"/>
                <a:ea typeface="Unbounded Bold" pitchFamily="34" charset="-122"/>
                <a:cs typeface="Unbounded Bold" pitchFamily="34" charset="-120"/>
              </a:rPr>
              <a:t>Taking a Break </a:t>
            </a:r>
            <a:endParaRPr lang="en-US" sz="2500" dirty="0"/>
          </a:p>
        </p:txBody>
      </p:sp>
      <p:sp>
        <p:nvSpPr>
          <p:cNvPr id="7" name="Text 4"/>
          <p:cNvSpPr/>
          <p:nvPr/>
        </p:nvSpPr>
        <p:spPr>
          <a:xfrm>
            <a:off x="557808" y="5982414"/>
            <a:ext cx="13514784" cy="868204"/>
          </a:xfrm>
          <a:prstGeom prst="rect">
            <a:avLst/>
          </a:prstGeom>
          <a:noFill/>
          <a:ln/>
        </p:spPr>
        <p:txBody>
          <a:bodyPr wrap="square" lIns="0" tIns="0" rIns="0" bIns="0" rtlCol="0" anchor="t"/>
          <a:lstStyle/>
          <a:p>
            <a:pPr algn="l" indent="0" marL="0">
              <a:lnSpc>
                <a:spcPts val="1700"/>
              </a:lnSpc>
              <a:buNone/>
            </a:pPr>
            <a:r>
              <a:rPr lang="en-US" sz="1250" dirty="0">
                <a:solidFill>
                  <a:srgbClr val="000000"/>
                </a:solidFill>
                <a:latin typeface="Open Sans" pitchFamily="34" charset="0"/>
                <a:ea typeface="Open Sans" pitchFamily="34" charset="-122"/>
                <a:cs typeface="Open Sans" pitchFamily="34" charset="-120"/>
              </a:rPr>
              <a:t>However, I refused to let this pause become a period of idleness. I knew that sitting at home waiting for a miracle would only increase my anxiety and the pressure on my guardians. I decided to step into the arena of the workforce. I moved back to Nairobi, the city of possibilities, and took up a job in Sales. If the university was a place of theoretical learning, the streets of Nairobi were a school of hard knocks. Working in sales is not for the faint-hearted. It requires a thick skin, an abundance of patience, and the ability to handle rejection with a smile. My daily routine shifted from attending lectures to meeting targets. I walked the streets, pitched products to skeptical customers, and learned the art of persuasion.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7454"/>
          </a:xfrm>
          <a:prstGeom prst="rect">
            <a:avLst/>
          </a:prstGeom>
        </p:spPr>
      </p:pic>
      <p:sp>
        <p:nvSpPr>
          <p:cNvPr id="3" name="Text 0"/>
          <p:cNvSpPr/>
          <p:nvPr/>
        </p:nvSpPr>
        <p:spPr>
          <a:xfrm>
            <a:off x="696397" y="3474244"/>
            <a:ext cx="9938980" cy="621863"/>
          </a:xfrm>
          <a:prstGeom prst="rect">
            <a:avLst/>
          </a:prstGeom>
          <a:noFill/>
          <a:ln/>
        </p:spPr>
        <p:txBody>
          <a:bodyPr wrap="none" lIns="0" tIns="0" rIns="0" bIns="0" rtlCol="0" anchor="t"/>
          <a:lstStyle/>
          <a:p>
            <a:pPr algn="l" indent="0" marL="0">
              <a:lnSpc>
                <a:spcPts val="4850"/>
              </a:lnSpc>
              <a:buNone/>
            </a:pPr>
            <a:r>
              <a:rPr lang="en-US" sz="3900" b="1" dirty="0">
                <a:solidFill>
                  <a:srgbClr val="000000"/>
                </a:solidFill>
                <a:latin typeface="Unbounded Bold" pitchFamily="34" charset="0"/>
                <a:ea typeface="Unbounded Bold" pitchFamily="34" charset="-122"/>
                <a:cs typeface="Unbounded Bold" pitchFamily="34" charset="-120"/>
              </a:rPr>
              <a:t>THE BLUEPRINT OF TOMORROW</a:t>
            </a:r>
            <a:endParaRPr lang="en-US" sz="3900" dirty="0"/>
          </a:p>
        </p:txBody>
      </p:sp>
      <p:sp>
        <p:nvSpPr>
          <p:cNvPr id="4" name="Text 1"/>
          <p:cNvSpPr/>
          <p:nvPr/>
        </p:nvSpPr>
        <p:spPr>
          <a:xfrm>
            <a:off x="696397" y="4357926"/>
            <a:ext cx="13237607" cy="1194911"/>
          </a:xfrm>
          <a:prstGeom prst="rect">
            <a:avLst/>
          </a:prstGeom>
          <a:noFill/>
          <a:ln/>
        </p:spPr>
        <p:txBody>
          <a:bodyPr wrap="square" lIns="0" tIns="0" rIns="0" bIns="0" rtlCol="0" anchor="t"/>
          <a:lstStyle/>
          <a:p>
            <a:pPr algn="l" indent="0" marL="0">
              <a:lnSpc>
                <a:spcPts val="2350"/>
              </a:lnSpc>
              <a:buNone/>
            </a:pPr>
            <a:r>
              <a:rPr lang="en-US" sz="1550" dirty="0">
                <a:solidFill>
                  <a:srgbClr val="000000"/>
                </a:solidFill>
                <a:latin typeface="Open Sans" pitchFamily="34" charset="0"/>
                <a:ea typeface="Open Sans" pitchFamily="34" charset="-122"/>
                <a:cs typeface="Open Sans" pitchFamily="34" charset="-120"/>
              </a:rPr>
              <a:t>As I stand on the precipice of graduation, gazing into the horizon of the next decade, my professional compass points towards the intersection of technology and human experience. My primary ambition is to secure a role at Safaricom, the telecommunications giant that has revolutionized the Kenyan economy. Working at Safaricom represents the pinnacle of tech impact in our region. I want to be part of an ecosystem that keeps Kenya connected, using my background in Business and IT to solve large-scale problems.</a:t>
            </a:r>
            <a:endParaRPr lang="en-US" sz="1550" dirty="0"/>
          </a:p>
        </p:txBody>
      </p:sp>
      <p:sp>
        <p:nvSpPr>
          <p:cNvPr id="5" name="Text 2"/>
          <p:cNvSpPr/>
          <p:nvPr/>
        </p:nvSpPr>
        <p:spPr>
          <a:xfrm>
            <a:off x="696397" y="5749171"/>
            <a:ext cx="13237607" cy="1493639"/>
          </a:xfrm>
          <a:prstGeom prst="rect">
            <a:avLst/>
          </a:prstGeom>
          <a:noFill/>
          <a:ln/>
        </p:spPr>
        <p:txBody>
          <a:bodyPr wrap="square" lIns="0" tIns="0" rIns="0" bIns="0" rtlCol="0" anchor="t"/>
          <a:lstStyle/>
          <a:p>
            <a:pPr algn="l" indent="0" marL="0">
              <a:lnSpc>
                <a:spcPts val="2350"/>
              </a:lnSpc>
              <a:buNone/>
            </a:pPr>
            <a:r>
              <a:rPr lang="en-US" sz="1550" dirty="0">
                <a:solidFill>
                  <a:srgbClr val="000000"/>
                </a:solidFill>
                <a:latin typeface="Open Sans" pitchFamily="34" charset="0"/>
                <a:ea typeface="Open Sans" pitchFamily="34" charset="-122"/>
                <a:cs typeface="Open Sans" pitchFamily="34" charset="-120"/>
              </a:rPr>
              <a:t>However, my aspirations are not limited to a single corporate entity. My heart beats for UI/UX Design (User Interface and User Experience). Drawing from my experience in graphic design and video editing, I want to work as a specialized designer, preferably in a remote setting. The world has become a global village, and I envision myself working with diverse international brands, helping them bring their abstract ideas to life through intuitive and beautiful digital interfaces. I want to be the bridge between complex code and the human user, ensuring that technology is not just functional, but delightful to use.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2026-02-13T10:58:28Z</dcterms:created>
  <dcterms:modified xsi:type="dcterms:W3CDTF">2026-02-13T10:58:28Z</dcterms:modified>
</cp:coreProperties>
</file>