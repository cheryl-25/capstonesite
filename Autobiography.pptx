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Playfair Display" charset="1" panose="00000000000000000000"/>
      <p:regular r:id="rId14"/>
    </p:embeddedFont>
    <p:embeddedFont>
      <p:font typeface="Crimson Pro" charset="1" panose="000000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4444" r="0" b="-14444"/>
            </a:stretch>
          </a:blipFill>
        </p:spPr>
      </p:sp>
      <p:sp>
        <p:nvSpPr>
          <p:cNvPr name="Freeform 3" id="3"/>
          <p:cNvSpPr/>
          <p:nvPr/>
        </p:nvSpPr>
        <p:spPr>
          <a:xfrm flipH="false" flipV="false" rot="0">
            <a:off x="-1276160" y="5143500"/>
            <a:ext cx="4006483" cy="6937633"/>
          </a:xfrm>
          <a:custGeom>
            <a:avLst/>
            <a:gdLst/>
            <a:ahLst/>
            <a:cxnLst/>
            <a:rect r="r" b="b" t="t" l="l"/>
            <a:pathLst>
              <a:path h="6937633" w="4006483">
                <a:moveTo>
                  <a:pt x="0" y="0"/>
                </a:moveTo>
                <a:lnTo>
                  <a:pt x="4006484" y="0"/>
                </a:lnTo>
                <a:lnTo>
                  <a:pt x="4006484" y="6937633"/>
                </a:lnTo>
                <a:lnTo>
                  <a:pt x="0" y="6937633"/>
                </a:lnTo>
                <a:lnTo>
                  <a:pt x="0" y="0"/>
                </a:lnTo>
                <a:close/>
              </a:path>
            </a:pathLst>
          </a:custGeom>
          <a:blipFill>
            <a:blip r:embed="rId3"/>
            <a:stretch>
              <a:fillRect l="0" t="0" r="0" b="0"/>
            </a:stretch>
          </a:blipFill>
        </p:spPr>
      </p:sp>
      <p:sp>
        <p:nvSpPr>
          <p:cNvPr name="TextBox 4" id="4"/>
          <p:cNvSpPr txBox="true"/>
          <p:nvPr/>
        </p:nvSpPr>
        <p:spPr>
          <a:xfrm rot="0">
            <a:off x="2730324" y="2339257"/>
            <a:ext cx="12828023" cy="1950503"/>
          </a:xfrm>
          <a:prstGeom prst="rect">
            <a:avLst/>
          </a:prstGeom>
        </p:spPr>
        <p:txBody>
          <a:bodyPr anchor="t" rtlCol="false" tIns="0" lIns="0" bIns="0" rIns="0">
            <a:spAutoFit/>
          </a:bodyPr>
          <a:lstStyle/>
          <a:p>
            <a:pPr algn="ctr">
              <a:lnSpc>
                <a:spcPts val="15954"/>
              </a:lnSpc>
            </a:pPr>
            <a:r>
              <a:rPr lang="en-US" sz="11395">
                <a:solidFill>
                  <a:srgbClr val="68267C"/>
                </a:solidFill>
                <a:latin typeface="Playfair Display"/>
                <a:ea typeface="Playfair Display"/>
                <a:cs typeface="Playfair Display"/>
                <a:sym typeface="Playfair Display"/>
              </a:rPr>
              <a:t>AUTOBIOGRAPHY </a:t>
            </a:r>
          </a:p>
        </p:txBody>
      </p:sp>
      <p:sp>
        <p:nvSpPr>
          <p:cNvPr name="Freeform 5" id="5"/>
          <p:cNvSpPr/>
          <p:nvPr/>
        </p:nvSpPr>
        <p:spPr>
          <a:xfrm flipH="false" flipV="false" rot="-2596378">
            <a:off x="14621738" y="7093789"/>
            <a:ext cx="5275124" cy="4655297"/>
          </a:xfrm>
          <a:custGeom>
            <a:avLst/>
            <a:gdLst/>
            <a:ahLst/>
            <a:cxnLst/>
            <a:rect r="r" b="b" t="t" l="l"/>
            <a:pathLst>
              <a:path h="4655297" w="5275124">
                <a:moveTo>
                  <a:pt x="0" y="0"/>
                </a:moveTo>
                <a:lnTo>
                  <a:pt x="5275124" y="0"/>
                </a:lnTo>
                <a:lnTo>
                  <a:pt x="5275124" y="4655297"/>
                </a:lnTo>
                <a:lnTo>
                  <a:pt x="0" y="4655297"/>
                </a:lnTo>
                <a:lnTo>
                  <a:pt x="0" y="0"/>
                </a:lnTo>
                <a:close/>
              </a:path>
            </a:pathLst>
          </a:custGeom>
          <a:blipFill>
            <a:blip r:embed="rId4"/>
            <a:stretch>
              <a:fillRect l="0" t="0" r="0" b="0"/>
            </a:stretch>
          </a:blipFill>
        </p:spPr>
      </p:sp>
      <p:sp>
        <p:nvSpPr>
          <p:cNvPr name="TextBox 6" id="6"/>
          <p:cNvSpPr txBox="true"/>
          <p:nvPr/>
        </p:nvSpPr>
        <p:spPr>
          <a:xfrm rot="0">
            <a:off x="3960556" y="4194510"/>
            <a:ext cx="10065271" cy="1706155"/>
          </a:xfrm>
          <a:prstGeom prst="rect">
            <a:avLst/>
          </a:prstGeom>
        </p:spPr>
        <p:txBody>
          <a:bodyPr anchor="t" rtlCol="false" tIns="0" lIns="0" bIns="0" rIns="0">
            <a:spAutoFit/>
          </a:bodyPr>
          <a:lstStyle/>
          <a:p>
            <a:pPr algn="ctr">
              <a:lnSpc>
                <a:spcPts val="6890"/>
              </a:lnSpc>
            </a:pPr>
            <a:r>
              <a:rPr lang="en-US" sz="4921">
                <a:solidFill>
                  <a:srgbClr val="D94291"/>
                </a:solidFill>
                <a:latin typeface="Crimson Pro"/>
                <a:ea typeface="Crimson Pro"/>
                <a:cs typeface="Crimson Pro"/>
                <a:sym typeface="Crimson Pro"/>
              </a:rPr>
              <a:t>By Cheryl Achieng </a:t>
            </a:r>
          </a:p>
          <a:p>
            <a:pPr algn="ctr">
              <a:lnSpc>
                <a:spcPts val="6890"/>
              </a:lnSpc>
              <a:spcBef>
                <a:spcPct val="0"/>
              </a:spcBef>
            </a:pPr>
            <a:r>
              <a:rPr lang="en-US" sz="4921">
                <a:solidFill>
                  <a:srgbClr val="D94291"/>
                </a:solidFill>
                <a:latin typeface="Crimson Pro"/>
                <a:ea typeface="Crimson Pro"/>
                <a:cs typeface="Crimson Pro"/>
                <a:sym typeface="Crimson Pro"/>
              </a:rPr>
              <a:t>C027-01-2630/2021</a:t>
            </a:r>
          </a:p>
        </p:txBody>
      </p:sp>
      <p:sp>
        <p:nvSpPr>
          <p:cNvPr name="Freeform 7" id="7"/>
          <p:cNvSpPr/>
          <p:nvPr/>
        </p:nvSpPr>
        <p:spPr>
          <a:xfrm flipH="true" flipV="true" rot="-2596378">
            <a:off x="-1608862" y="-1540623"/>
            <a:ext cx="5275124" cy="4655297"/>
          </a:xfrm>
          <a:custGeom>
            <a:avLst/>
            <a:gdLst/>
            <a:ahLst/>
            <a:cxnLst/>
            <a:rect r="r" b="b" t="t" l="l"/>
            <a:pathLst>
              <a:path h="4655297" w="5275124">
                <a:moveTo>
                  <a:pt x="5275124" y="4655297"/>
                </a:moveTo>
                <a:lnTo>
                  <a:pt x="0" y="4655297"/>
                </a:lnTo>
                <a:lnTo>
                  <a:pt x="0" y="0"/>
                </a:lnTo>
                <a:lnTo>
                  <a:pt x="5275124" y="0"/>
                </a:lnTo>
                <a:lnTo>
                  <a:pt x="5275124" y="4655297"/>
                </a:lnTo>
                <a:close/>
              </a:path>
            </a:pathLst>
          </a:custGeom>
          <a:blipFill>
            <a:blip r:embed="rId4"/>
            <a:stretch>
              <a:fillRect l="0" t="0" r="0" b="0"/>
            </a:stretch>
          </a:blipFill>
        </p:spPr>
      </p:sp>
      <p:sp>
        <p:nvSpPr>
          <p:cNvPr name="Freeform 8" id="8"/>
          <p:cNvSpPr/>
          <p:nvPr/>
        </p:nvSpPr>
        <p:spPr>
          <a:xfrm flipH="true" flipV="true" rot="0">
            <a:off x="15256058" y="-2196832"/>
            <a:ext cx="4006483" cy="6937633"/>
          </a:xfrm>
          <a:custGeom>
            <a:avLst/>
            <a:gdLst/>
            <a:ahLst/>
            <a:cxnLst/>
            <a:rect r="r" b="b" t="t" l="l"/>
            <a:pathLst>
              <a:path h="6937633" w="4006483">
                <a:moveTo>
                  <a:pt x="4006484" y="6937633"/>
                </a:moveTo>
                <a:lnTo>
                  <a:pt x="0" y="6937633"/>
                </a:lnTo>
                <a:lnTo>
                  <a:pt x="0" y="0"/>
                </a:lnTo>
                <a:lnTo>
                  <a:pt x="4006484" y="0"/>
                </a:lnTo>
                <a:lnTo>
                  <a:pt x="4006484" y="6937633"/>
                </a:lnTo>
                <a:close/>
              </a:path>
            </a:pathLst>
          </a:custGeom>
          <a:blipFill>
            <a:blip r:embed="rId3"/>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4444" r="0" b="-14444"/>
            </a:stretch>
          </a:blipFill>
        </p:spPr>
      </p:sp>
      <p:sp>
        <p:nvSpPr>
          <p:cNvPr name="Freeform 3" id="3"/>
          <p:cNvSpPr/>
          <p:nvPr/>
        </p:nvSpPr>
        <p:spPr>
          <a:xfrm flipH="false" flipV="false" rot="0">
            <a:off x="-1276160" y="5143500"/>
            <a:ext cx="4006483" cy="6937633"/>
          </a:xfrm>
          <a:custGeom>
            <a:avLst/>
            <a:gdLst/>
            <a:ahLst/>
            <a:cxnLst/>
            <a:rect r="r" b="b" t="t" l="l"/>
            <a:pathLst>
              <a:path h="6937633" w="4006483">
                <a:moveTo>
                  <a:pt x="0" y="0"/>
                </a:moveTo>
                <a:lnTo>
                  <a:pt x="4006484" y="0"/>
                </a:lnTo>
                <a:lnTo>
                  <a:pt x="4006484" y="6937633"/>
                </a:lnTo>
                <a:lnTo>
                  <a:pt x="0" y="6937633"/>
                </a:lnTo>
                <a:lnTo>
                  <a:pt x="0" y="0"/>
                </a:lnTo>
                <a:close/>
              </a:path>
            </a:pathLst>
          </a:custGeom>
          <a:blipFill>
            <a:blip r:embed="rId3"/>
            <a:stretch>
              <a:fillRect l="0" t="0" r="0" b="0"/>
            </a:stretch>
          </a:blipFill>
        </p:spPr>
      </p:sp>
      <p:sp>
        <p:nvSpPr>
          <p:cNvPr name="Freeform 4" id="4"/>
          <p:cNvSpPr/>
          <p:nvPr/>
        </p:nvSpPr>
        <p:spPr>
          <a:xfrm flipH="false" flipV="false" rot="-2596378">
            <a:off x="14621738" y="7093789"/>
            <a:ext cx="5275124" cy="4655297"/>
          </a:xfrm>
          <a:custGeom>
            <a:avLst/>
            <a:gdLst/>
            <a:ahLst/>
            <a:cxnLst/>
            <a:rect r="r" b="b" t="t" l="l"/>
            <a:pathLst>
              <a:path h="4655297" w="5275124">
                <a:moveTo>
                  <a:pt x="0" y="0"/>
                </a:moveTo>
                <a:lnTo>
                  <a:pt x="5275124" y="0"/>
                </a:lnTo>
                <a:lnTo>
                  <a:pt x="5275124" y="4655297"/>
                </a:lnTo>
                <a:lnTo>
                  <a:pt x="0" y="4655297"/>
                </a:lnTo>
                <a:lnTo>
                  <a:pt x="0" y="0"/>
                </a:lnTo>
                <a:close/>
              </a:path>
            </a:pathLst>
          </a:custGeom>
          <a:blipFill>
            <a:blip r:embed="rId4"/>
            <a:stretch>
              <a:fillRect l="0" t="0" r="0" b="0"/>
            </a:stretch>
          </a:blipFill>
        </p:spPr>
      </p:sp>
      <p:sp>
        <p:nvSpPr>
          <p:cNvPr name="Freeform 5" id="5"/>
          <p:cNvSpPr/>
          <p:nvPr/>
        </p:nvSpPr>
        <p:spPr>
          <a:xfrm flipH="true" flipV="true" rot="-2596378">
            <a:off x="-1608862" y="-1540623"/>
            <a:ext cx="5275124" cy="4655297"/>
          </a:xfrm>
          <a:custGeom>
            <a:avLst/>
            <a:gdLst/>
            <a:ahLst/>
            <a:cxnLst/>
            <a:rect r="r" b="b" t="t" l="l"/>
            <a:pathLst>
              <a:path h="4655297" w="5275124">
                <a:moveTo>
                  <a:pt x="5275124" y="4655297"/>
                </a:moveTo>
                <a:lnTo>
                  <a:pt x="0" y="4655297"/>
                </a:lnTo>
                <a:lnTo>
                  <a:pt x="0" y="0"/>
                </a:lnTo>
                <a:lnTo>
                  <a:pt x="5275124" y="0"/>
                </a:lnTo>
                <a:lnTo>
                  <a:pt x="5275124" y="4655297"/>
                </a:lnTo>
                <a:close/>
              </a:path>
            </a:pathLst>
          </a:custGeom>
          <a:blipFill>
            <a:blip r:embed="rId4"/>
            <a:stretch>
              <a:fillRect l="0" t="0" r="0" b="0"/>
            </a:stretch>
          </a:blipFill>
        </p:spPr>
      </p:sp>
      <p:sp>
        <p:nvSpPr>
          <p:cNvPr name="Freeform 6" id="6"/>
          <p:cNvSpPr/>
          <p:nvPr/>
        </p:nvSpPr>
        <p:spPr>
          <a:xfrm flipH="true" flipV="true" rot="0">
            <a:off x="15256058" y="-2196832"/>
            <a:ext cx="4006483" cy="6937633"/>
          </a:xfrm>
          <a:custGeom>
            <a:avLst/>
            <a:gdLst/>
            <a:ahLst/>
            <a:cxnLst/>
            <a:rect r="r" b="b" t="t" l="l"/>
            <a:pathLst>
              <a:path h="6937633" w="4006483">
                <a:moveTo>
                  <a:pt x="4006484" y="6937633"/>
                </a:moveTo>
                <a:lnTo>
                  <a:pt x="0" y="6937633"/>
                </a:lnTo>
                <a:lnTo>
                  <a:pt x="0" y="0"/>
                </a:lnTo>
                <a:lnTo>
                  <a:pt x="4006484" y="0"/>
                </a:lnTo>
                <a:lnTo>
                  <a:pt x="4006484" y="6937633"/>
                </a:lnTo>
                <a:close/>
              </a:path>
            </a:pathLst>
          </a:custGeom>
          <a:blipFill>
            <a:blip r:embed="rId3"/>
            <a:stretch>
              <a:fillRect l="0" t="0" r="0" b="0"/>
            </a:stretch>
          </a:blipFill>
        </p:spPr>
      </p:sp>
      <p:sp>
        <p:nvSpPr>
          <p:cNvPr name="TextBox 7" id="7"/>
          <p:cNvSpPr txBox="true"/>
          <p:nvPr/>
        </p:nvSpPr>
        <p:spPr>
          <a:xfrm rot="0">
            <a:off x="3688199" y="1305205"/>
            <a:ext cx="10911602" cy="1385093"/>
          </a:xfrm>
          <a:prstGeom prst="rect">
            <a:avLst/>
          </a:prstGeom>
        </p:spPr>
        <p:txBody>
          <a:bodyPr anchor="t" rtlCol="false" tIns="0" lIns="0" bIns="0" rIns="0">
            <a:spAutoFit/>
          </a:bodyPr>
          <a:lstStyle/>
          <a:p>
            <a:pPr algn="ctr">
              <a:lnSpc>
                <a:spcPts val="11331"/>
              </a:lnSpc>
            </a:pPr>
            <a:r>
              <a:rPr lang="en-US" sz="8093">
                <a:solidFill>
                  <a:srgbClr val="68267C"/>
                </a:solidFill>
                <a:latin typeface="Playfair Display"/>
                <a:ea typeface="Playfair Display"/>
                <a:cs typeface="Playfair Display"/>
                <a:sym typeface="Playfair Display"/>
              </a:rPr>
              <a:t>INTRODUCTION.</a:t>
            </a:r>
          </a:p>
        </p:txBody>
      </p:sp>
      <p:sp>
        <p:nvSpPr>
          <p:cNvPr name="TextBox 8" id="8"/>
          <p:cNvSpPr txBox="true"/>
          <p:nvPr/>
        </p:nvSpPr>
        <p:spPr>
          <a:xfrm rot="0">
            <a:off x="2152087" y="2993851"/>
            <a:ext cx="14011601" cy="3508724"/>
          </a:xfrm>
          <a:prstGeom prst="rect">
            <a:avLst/>
          </a:prstGeom>
        </p:spPr>
        <p:txBody>
          <a:bodyPr anchor="t" rtlCol="false" tIns="0" lIns="0" bIns="0" rIns="0">
            <a:spAutoFit/>
          </a:bodyPr>
          <a:lstStyle/>
          <a:p>
            <a:pPr algn="l">
              <a:lnSpc>
                <a:spcPts val="5580"/>
              </a:lnSpc>
              <a:spcBef>
                <a:spcPct val="0"/>
              </a:spcBef>
            </a:pPr>
            <a:r>
              <a:rPr lang="en-US" sz="3986">
                <a:solidFill>
                  <a:srgbClr val="D94291"/>
                </a:solidFill>
                <a:latin typeface="Crimson Pro"/>
                <a:ea typeface="Crimson Pro"/>
                <a:cs typeface="Crimson Pro"/>
                <a:sym typeface="Crimson Pro"/>
              </a:rPr>
              <a:t>My name "Cheryl" means Beloved Friend (community) and also it originates from the French ; "Achieng" means Midday Sun (clarity and brightness) from my Luo Origin. For meSuccess is defined by the ability to thrive in different soils: the warmth of Kisumu, the fast pace of Nairobi, and the discipline of Nyeri</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4444" r="0" b="-14444"/>
            </a:stretch>
          </a:blipFill>
        </p:spPr>
      </p:sp>
      <p:sp>
        <p:nvSpPr>
          <p:cNvPr name="Freeform 3" id="3"/>
          <p:cNvSpPr/>
          <p:nvPr/>
        </p:nvSpPr>
        <p:spPr>
          <a:xfrm flipH="false" flipV="false" rot="0">
            <a:off x="-1276160" y="5143500"/>
            <a:ext cx="4006483" cy="6937633"/>
          </a:xfrm>
          <a:custGeom>
            <a:avLst/>
            <a:gdLst/>
            <a:ahLst/>
            <a:cxnLst/>
            <a:rect r="r" b="b" t="t" l="l"/>
            <a:pathLst>
              <a:path h="6937633" w="4006483">
                <a:moveTo>
                  <a:pt x="0" y="0"/>
                </a:moveTo>
                <a:lnTo>
                  <a:pt x="4006484" y="0"/>
                </a:lnTo>
                <a:lnTo>
                  <a:pt x="4006484" y="6937633"/>
                </a:lnTo>
                <a:lnTo>
                  <a:pt x="0" y="6937633"/>
                </a:lnTo>
                <a:lnTo>
                  <a:pt x="0" y="0"/>
                </a:lnTo>
                <a:close/>
              </a:path>
            </a:pathLst>
          </a:custGeom>
          <a:blipFill>
            <a:blip r:embed="rId3"/>
            <a:stretch>
              <a:fillRect l="0" t="0" r="0" b="0"/>
            </a:stretch>
          </a:blipFill>
        </p:spPr>
      </p:sp>
      <p:sp>
        <p:nvSpPr>
          <p:cNvPr name="Freeform 4" id="4"/>
          <p:cNvSpPr/>
          <p:nvPr/>
        </p:nvSpPr>
        <p:spPr>
          <a:xfrm flipH="false" flipV="false" rot="-2596378">
            <a:off x="14621738" y="7093789"/>
            <a:ext cx="5275124" cy="4655297"/>
          </a:xfrm>
          <a:custGeom>
            <a:avLst/>
            <a:gdLst/>
            <a:ahLst/>
            <a:cxnLst/>
            <a:rect r="r" b="b" t="t" l="l"/>
            <a:pathLst>
              <a:path h="4655297" w="5275124">
                <a:moveTo>
                  <a:pt x="0" y="0"/>
                </a:moveTo>
                <a:lnTo>
                  <a:pt x="5275124" y="0"/>
                </a:lnTo>
                <a:lnTo>
                  <a:pt x="5275124" y="4655297"/>
                </a:lnTo>
                <a:lnTo>
                  <a:pt x="0" y="4655297"/>
                </a:lnTo>
                <a:lnTo>
                  <a:pt x="0" y="0"/>
                </a:lnTo>
                <a:close/>
              </a:path>
            </a:pathLst>
          </a:custGeom>
          <a:blipFill>
            <a:blip r:embed="rId4"/>
            <a:stretch>
              <a:fillRect l="0" t="0" r="0" b="0"/>
            </a:stretch>
          </a:blipFill>
        </p:spPr>
      </p:sp>
      <p:sp>
        <p:nvSpPr>
          <p:cNvPr name="Freeform 5" id="5"/>
          <p:cNvSpPr/>
          <p:nvPr/>
        </p:nvSpPr>
        <p:spPr>
          <a:xfrm flipH="true" flipV="true" rot="-2596378">
            <a:off x="-1608862" y="-1540623"/>
            <a:ext cx="5275124" cy="4655297"/>
          </a:xfrm>
          <a:custGeom>
            <a:avLst/>
            <a:gdLst/>
            <a:ahLst/>
            <a:cxnLst/>
            <a:rect r="r" b="b" t="t" l="l"/>
            <a:pathLst>
              <a:path h="4655297" w="5275124">
                <a:moveTo>
                  <a:pt x="5275124" y="4655297"/>
                </a:moveTo>
                <a:lnTo>
                  <a:pt x="0" y="4655297"/>
                </a:lnTo>
                <a:lnTo>
                  <a:pt x="0" y="0"/>
                </a:lnTo>
                <a:lnTo>
                  <a:pt x="5275124" y="0"/>
                </a:lnTo>
                <a:lnTo>
                  <a:pt x="5275124" y="4655297"/>
                </a:lnTo>
                <a:close/>
              </a:path>
            </a:pathLst>
          </a:custGeom>
          <a:blipFill>
            <a:blip r:embed="rId4"/>
            <a:stretch>
              <a:fillRect l="0" t="0" r="0" b="0"/>
            </a:stretch>
          </a:blipFill>
        </p:spPr>
      </p:sp>
      <p:sp>
        <p:nvSpPr>
          <p:cNvPr name="Freeform 6" id="6"/>
          <p:cNvSpPr/>
          <p:nvPr/>
        </p:nvSpPr>
        <p:spPr>
          <a:xfrm flipH="true" flipV="true" rot="0">
            <a:off x="15256058" y="-2196832"/>
            <a:ext cx="4006483" cy="6937633"/>
          </a:xfrm>
          <a:custGeom>
            <a:avLst/>
            <a:gdLst/>
            <a:ahLst/>
            <a:cxnLst/>
            <a:rect r="r" b="b" t="t" l="l"/>
            <a:pathLst>
              <a:path h="6937633" w="4006483">
                <a:moveTo>
                  <a:pt x="4006484" y="6937633"/>
                </a:moveTo>
                <a:lnTo>
                  <a:pt x="0" y="6937633"/>
                </a:lnTo>
                <a:lnTo>
                  <a:pt x="0" y="0"/>
                </a:lnTo>
                <a:lnTo>
                  <a:pt x="4006484" y="0"/>
                </a:lnTo>
                <a:lnTo>
                  <a:pt x="4006484" y="6937633"/>
                </a:lnTo>
                <a:close/>
              </a:path>
            </a:pathLst>
          </a:custGeom>
          <a:blipFill>
            <a:blip r:embed="rId3"/>
            <a:stretch>
              <a:fillRect l="0" t="0" r="0" b="0"/>
            </a:stretch>
          </a:blipFill>
        </p:spPr>
      </p:sp>
      <p:sp>
        <p:nvSpPr>
          <p:cNvPr name="TextBox 7" id="7"/>
          <p:cNvSpPr txBox="true"/>
          <p:nvPr/>
        </p:nvSpPr>
        <p:spPr>
          <a:xfrm rot="0">
            <a:off x="3163247" y="1138634"/>
            <a:ext cx="11961506" cy="1249932"/>
          </a:xfrm>
          <a:prstGeom prst="rect">
            <a:avLst/>
          </a:prstGeom>
        </p:spPr>
        <p:txBody>
          <a:bodyPr anchor="t" rtlCol="false" tIns="0" lIns="0" bIns="0" rIns="0">
            <a:spAutoFit/>
          </a:bodyPr>
          <a:lstStyle/>
          <a:p>
            <a:pPr algn="ctr">
              <a:lnSpc>
                <a:spcPts val="10263"/>
              </a:lnSpc>
            </a:pPr>
            <a:r>
              <a:rPr lang="en-US" sz="7331">
                <a:solidFill>
                  <a:srgbClr val="68267C"/>
                </a:solidFill>
                <a:latin typeface="Playfair Display"/>
                <a:ea typeface="Playfair Display"/>
                <a:cs typeface="Playfair Display"/>
                <a:sym typeface="Playfair Display"/>
              </a:rPr>
              <a:t>ROOTS AND RHYTHMS</a:t>
            </a:r>
          </a:p>
        </p:txBody>
      </p:sp>
      <p:sp>
        <p:nvSpPr>
          <p:cNvPr name="TextBox 8" id="8"/>
          <p:cNvSpPr txBox="true"/>
          <p:nvPr/>
        </p:nvSpPr>
        <p:spPr>
          <a:xfrm rot="0">
            <a:off x="2431176" y="2943576"/>
            <a:ext cx="14011601" cy="5623274"/>
          </a:xfrm>
          <a:prstGeom prst="rect">
            <a:avLst/>
          </a:prstGeom>
        </p:spPr>
        <p:txBody>
          <a:bodyPr anchor="t" rtlCol="false" tIns="0" lIns="0" bIns="0" rIns="0">
            <a:spAutoFit/>
          </a:bodyPr>
          <a:lstStyle/>
          <a:p>
            <a:pPr algn="l">
              <a:lnSpc>
                <a:spcPts val="5580"/>
              </a:lnSpc>
              <a:spcBef>
                <a:spcPct val="0"/>
              </a:spcBef>
            </a:pPr>
            <a:r>
              <a:rPr lang="en-US" sz="3986">
                <a:solidFill>
                  <a:srgbClr val="D94291"/>
                </a:solidFill>
                <a:latin typeface="Crimson Pro"/>
                <a:ea typeface="Crimson Pro"/>
                <a:cs typeface="Crimson Pro"/>
                <a:sym typeface="Crimson Pro"/>
              </a:rPr>
              <a:t>My story begins in Kisian, a place defined by dramatic rock formations and the humidity of Lake Victoria. I was born the fourth of five children, and early on, I formed a fierce bond with my older brother, who became my protector and anchor. Unlike many peers who loved sports, I found my sanctuary in the arts—music and drama were my first loves. Culturally, my journey is also a culinary one. I moved from the fresh Tilapia of the lakeside to falling in love with potatoes when I moved to the central highlands of Nyeri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4444" r="0" b="-14444"/>
            </a:stretch>
          </a:blipFill>
        </p:spPr>
      </p:sp>
      <p:sp>
        <p:nvSpPr>
          <p:cNvPr name="Freeform 3" id="3"/>
          <p:cNvSpPr/>
          <p:nvPr/>
        </p:nvSpPr>
        <p:spPr>
          <a:xfrm flipH="false" flipV="false" rot="0">
            <a:off x="-1276160" y="5143500"/>
            <a:ext cx="4006483" cy="6937633"/>
          </a:xfrm>
          <a:custGeom>
            <a:avLst/>
            <a:gdLst/>
            <a:ahLst/>
            <a:cxnLst/>
            <a:rect r="r" b="b" t="t" l="l"/>
            <a:pathLst>
              <a:path h="6937633" w="4006483">
                <a:moveTo>
                  <a:pt x="0" y="0"/>
                </a:moveTo>
                <a:lnTo>
                  <a:pt x="4006484" y="0"/>
                </a:lnTo>
                <a:lnTo>
                  <a:pt x="4006484" y="6937633"/>
                </a:lnTo>
                <a:lnTo>
                  <a:pt x="0" y="6937633"/>
                </a:lnTo>
                <a:lnTo>
                  <a:pt x="0" y="0"/>
                </a:lnTo>
                <a:close/>
              </a:path>
            </a:pathLst>
          </a:custGeom>
          <a:blipFill>
            <a:blip r:embed="rId3"/>
            <a:stretch>
              <a:fillRect l="0" t="0" r="0" b="0"/>
            </a:stretch>
          </a:blipFill>
        </p:spPr>
      </p:sp>
      <p:sp>
        <p:nvSpPr>
          <p:cNvPr name="TextBox 4" id="4"/>
          <p:cNvSpPr txBox="true"/>
          <p:nvPr/>
        </p:nvSpPr>
        <p:spPr>
          <a:xfrm rot="0">
            <a:off x="3253369" y="1418260"/>
            <a:ext cx="11778767" cy="1015181"/>
          </a:xfrm>
          <a:prstGeom prst="rect">
            <a:avLst/>
          </a:prstGeom>
        </p:spPr>
        <p:txBody>
          <a:bodyPr anchor="t" rtlCol="false" tIns="0" lIns="0" bIns="0" rIns="0">
            <a:spAutoFit/>
          </a:bodyPr>
          <a:lstStyle/>
          <a:p>
            <a:pPr algn="ctr">
              <a:lnSpc>
                <a:spcPts val="8368"/>
              </a:lnSpc>
            </a:pPr>
            <a:r>
              <a:rPr lang="en-US" sz="5977">
                <a:solidFill>
                  <a:srgbClr val="68267C"/>
                </a:solidFill>
                <a:latin typeface="Playfair Display"/>
                <a:ea typeface="Playfair Display"/>
                <a:cs typeface="Playfair Display"/>
                <a:sym typeface="Playfair Display"/>
              </a:rPr>
              <a:t>THE CRUCIBLE OF LEARNING</a:t>
            </a:r>
          </a:p>
        </p:txBody>
      </p:sp>
      <p:sp>
        <p:nvSpPr>
          <p:cNvPr name="Freeform 5" id="5"/>
          <p:cNvSpPr/>
          <p:nvPr/>
        </p:nvSpPr>
        <p:spPr>
          <a:xfrm flipH="false" flipV="false" rot="-2596378">
            <a:off x="14621738" y="7093789"/>
            <a:ext cx="5275124" cy="4655297"/>
          </a:xfrm>
          <a:custGeom>
            <a:avLst/>
            <a:gdLst/>
            <a:ahLst/>
            <a:cxnLst/>
            <a:rect r="r" b="b" t="t" l="l"/>
            <a:pathLst>
              <a:path h="4655297" w="5275124">
                <a:moveTo>
                  <a:pt x="0" y="0"/>
                </a:moveTo>
                <a:lnTo>
                  <a:pt x="5275124" y="0"/>
                </a:lnTo>
                <a:lnTo>
                  <a:pt x="5275124" y="4655297"/>
                </a:lnTo>
                <a:lnTo>
                  <a:pt x="0" y="4655297"/>
                </a:lnTo>
                <a:lnTo>
                  <a:pt x="0" y="0"/>
                </a:lnTo>
                <a:close/>
              </a:path>
            </a:pathLst>
          </a:custGeom>
          <a:blipFill>
            <a:blip r:embed="rId4"/>
            <a:stretch>
              <a:fillRect l="0" t="0" r="0" b="0"/>
            </a:stretch>
          </a:blipFill>
        </p:spPr>
      </p:sp>
      <p:sp>
        <p:nvSpPr>
          <p:cNvPr name="TextBox 6" id="6"/>
          <p:cNvSpPr txBox="true"/>
          <p:nvPr/>
        </p:nvSpPr>
        <p:spPr>
          <a:xfrm rot="0">
            <a:off x="2834712" y="2760954"/>
            <a:ext cx="12616082" cy="5375578"/>
          </a:xfrm>
          <a:prstGeom prst="rect">
            <a:avLst/>
          </a:prstGeom>
        </p:spPr>
        <p:txBody>
          <a:bodyPr anchor="t" rtlCol="false" tIns="0" lIns="0" bIns="0" rIns="0">
            <a:spAutoFit/>
          </a:bodyPr>
          <a:lstStyle/>
          <a:p>
            <a:pPr algn="ctr">
              <a:lnSpc>
                <a:spcPts val="5340"/>
              </a:lnSpc>
              <a:spcBef>
                <a:spcPct val="0"/>
              </a:spcBef>
            </a:pPr>
            <a:r>
              <a:rPr lang="en-US" sz="3814">
                <a:solidFill>
                  <a:srgbClr val="D94291"/>
                </a:solidFill>
                <a:latin typeface="Crimson Pro"/>
                <a:ea typeface="Crimson Pro"/>
                <a:cs typeface="Crimson Pro"/>
                <a:sym typeface="Crimson Pro"/>
              </a:rPr>
              <a:t>My primary education was a tale of two cities. I started in a village school in Kisian before moving to the cosmopolitan Milimani Primary in Nairobi. Academically, I loved English and Science, but Kiswahili was a mountain I struggled to climb. But my biggest lessons didn't come from books. They came from the long treks to school, dealing with bullies, and the constant, sinking anxiety of school fee arrears. These challenges taught me grit long before I entered the professional world</a:t>
            </a:r>
          </a:p>
        </p:txBody>
      </p:sp>
      <p:sp>
        <p:nvSpPr>
          <p:cNvPr name="Freeform 7" id="7"/>
          <p:cNvSpPr/>
          <p:nvPr/>
        </p:nvSpPr>
        <p:spPr>
          <a:xfrm flipH="true" flipV="true" rot="-2596378">
            <a:off x="-1608862" y="-1540623"/>
            <a:ext cx="5275124" cy="4655297"/>
          </a:xfrm>
          <a:custGeom>
            <a:avLst/>
            <a:gdLst/>
            <a:ahLst/>
            <a:cxnLst/>
            <a:rect r="r" b="b" t="t" l="l"/>
            <a:pathLst>
              <a:path h="4655297" w="5275124">
                <a:moveTo>
                  <a:pt x="5275124" y="4655297"/>
                </a:moveTo>
                <a:lnTo>
                  <a:pt x="0" y="4655297"/>
                </a:lnTo>
                <a:lnTo>
                  <a:pt x="0" y="0"/>
                </a:lnTo>
                <a:lnTo>
                  <a:pt x="5275124" y="0"/>
                </a:lnTo>
                <a:lnTo>
                  <a:pt x="5275124" y="4655297"/>
                </a:lnTo>
                <a:close/>
              </a:path>
            </a:pathLst>
          </a:custGeom>
          <a:blipFill>
            <a:blip r:embed="rId4"/>
            <a:stretch>
              <a:fillRect l="0" t="0" r="0" b="0"/>
            </a:stretch>
          </a:blipFill>
        </p:spPr>
      </p:sp>
      <p:sp>
        <p:nvSpPr>
          <p:cNvPr name="Freeform 8" id="8"/>
          <p:cNvSpPr/>
          <p:nvPr/>
        </p:nvSpPr>
        <p:spPr>
          <a:xfrm flipH="true" flipV="true" rot="0">
            <a:off x="15256058" y="-2196832"/>
            <a:ext cx="4006483" cy="6937633"/>
          </a:xfrm>
          <a:custGeom>
            <a:avLst/>
            <a:gdLst/>
            <a:ahLst/>
            <a:cxnLst/>
            <a:rect r="r" b="b" t="t" l="l"/>
            <a:pathLst>
              <a:path h="6937633" w="4006483">
                <a:moveTo>
                  <a:pt x="4006484" y="6937633"/>
                </a:moveTo>
                <a:lnTo>
                  <a:pt x="0" y="6937633"/>
                </a:lnTo>
                <a:lnTo>
                  <a:pt x="0" y="0"/>
                </a:lnTo>
                <a:lnTo>
                  <a:pt x="4006484" y="0"/>
                </a:lnTo>
                <a:lnTo>
                  <a:pt x="4006484" y="6937633"/>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4444" r="0" b="-14444"/>
            </a:stretch>
          </a:blipFill>
        </p:spPr>
      </p:sp>
      <p:sp>
        <p:nvSpPr>
          <p:cNvPr name="Freeform 3" id="3"/>
          <p:cNvSpPr/>
          <p:nvPr/>
        </p:nvSpPr>
        <p:spPr>
          <a:xfrm flipH="false" flipV="false" rot="0">
            <a:off x="-1276160" y="5143500"/>
            <a:ext cx="4006483" cy="6937633"/>
          </a:xfrm>
          <a:custGeom>
            <a:avLst/>
            <a:gdLst/>
            <a:ahLst/>
            <a:cxnLst/>
            <a:rect r="r" b="b" t="t" l="l"/>
            <a:pathLst>
              <a:path h="6937633" w="4006483">
                <a:moveTo>
                  <a:pt x="0" y="0"/>
                </a:moveTo>
                <a:lnTo>
                  <a:pt x="4006484" y="0"/>
                </a:lnTo>
                <a:lnTo>
                  <a:pt x="4006484" y="6937633"/>
                </a:lnTo>
                <a:lnTo>
                  <a:pt x="0" y="6937633"/>
                </a:lnTo>
                <a:lnTo>
                  <a:pt x="0" y="0"/>
                </a:lnTo>
                <a:close/>
              </a:path>
            </a:pathLst>
          </a:custGeom>
          <a:blipFill>
            <a:blip r:embed="rId3"/>
            <a:stretch>
              <a:fillRect l="0" t="0" r="0" b="0"/>
            </a:stretch>
          </a:blipFill>
        </p:spPr>
      </p:sp>
      <p:sp>
        <p:nvSpPr>
          <p:cNvPr name="Freeform 4" id="4"/>
          <p:cNvSpPr/>
          <p:nvPr/>
        </p:nvSpPr>
        <p:spPr>
          <a:xfrm flipH="false" flipV="false" rot="-2596378">
            <a:off x="14621738" y="7093789"/>
            <a:ext cx="5275124" cy="4655297"/>
          </a:xfrm>
          <a:custGeom>
            <a:avLst/>
            <a:gdLst/>
            <a:ahLst/>
            <a:cxnLst/>
            <a:rect r="r" b="b" t="t" l="l"/>
            <a:pathLst>
              <a:path h="4655297" w="5275124">
                <a:moveTo>
                  <a:pt x="0" y="0"/>
                </a:moveTo>
                <a:lnTo>
                  <a:pt x="5275124" y="0"/>
                </a:lnTo>
                <a:lnTo>
                  <a:pt x="5275124" y="4655297"/>
                </a:lnTo>
                <a:lnTo>
                  <a:pt x="0" y="4655297"/>
                </a:lnTo>
                <a:lnTo>
                  <a:pt x="0" y="0"/>
                </a:lnTo>
                <a:close/>
              </a:path>
            </a:pathLst>
          </a:custGeom>
          <a:blipFill>
            <a:blip r:embed="rId4"/>
            <a:stretch>
              <a:fillRect l="0" t="0" r="0" b="0"/>
            </a:stretch>
          </a:blipFill>
        </p:spPr>
      </p:sp>
      <p:sp>
        <p:nvSpPr>
          <p:cNvPr name="TextBox 5" id="5"/>
          <p:cNvSpPr txBox="true"/>
          <p:nvPr/>
        </p:nvSpPr>
        <p:spPr>
          <a:xfrm rot="0">
            <a:off x="1986813" y="2694143"/>
            <a:ext cx="14314374" cy="5701333"/>
          </a:xfrm>
          <a:prstGeom prst="rect">
            <a:avLst/>
          </a:prstGeom>
        </p:spPr>
        <p:txBody>
          <a:bodyPr anchor="t" rtlCol="false" tIns="0" lIns="0" bIns="0" rIns="0">
            <a:spAutoFit/>
          </a:bodyPr>
          <a:lstStyle/>
          <a:p>
            <a:pPr algn="l">
              <a:lnSpc>
                <a:spcPts val="5659"/>
              </a:lnSpc>
              <a:spcBef>
                <a:spcPct val="0"/>
              </a:spcBef>
            </a:pPr>
            <a:r>
              <a:rPr lang="en-US" sz="4042">
                <a:solidFill>
                  <a:srgbClr val="D94291"/>
                </a:solidFill>
                <a:latin typeface="Crimson Pro"/>
                <a:ea typeface="Crimson Pro"/>
                <a:cs typeface="Crimson Pro"/>
                <a:sym typeface="Crimson Pro"/>
              </a:rPr>
              <a:t>Adolescence brought a major detour. After missing the mark for a National School in the city, I returned to the village to attend Nyawara Girls High School. I won't lie—it was a culture shock. I had to trade city comforts for cold showers and strict village routines. But that environment was a crucible. It burned away my softness and forged a 'steel backbone'. I learned to speak up for myself. My ultimate victory was passing my KCSE and earning my admission here, to Dedan Kimathi University</a:t>
            </a:r>
          </a:p>
        </p:txBody>
      </p:sp>
      <p:sp>
        <p:nvSpPr>
          <p:cNvPr name="Freeform 6" id="6"/>
          <p:cNvSpPr/>
          <p:nvPr/>
        </p:nvSpPr>
        <p:spPr>
          <a:xfrm flipH="true" flipV="true" rot="-2596378">
            <a:off x="-1608862" y="-1540623"/>
            <a:ext cx="5275124" cy="4655297"/>
          </a:xfrm>
          <a:custGeom>
            <a:avLst/>
            <a:gdLst/>
            <a:ahLst/>
            <a:cxnLst/>
            <a:rect r="r" b="b" t="t" l="l"/>
            <a:pathLst>
              <a:path h="4655297" w="5275124">
                <a:moveTo>
                  <a:pt x="5275124" y="4655297"/>
                </a:moveTo>
                <a:lnTo>
                  <a:pt x="0" y="4655297"/>
                </a:lnTo>
                <a:lnTo>
                  <a:pt x="0" y="0"/>
                </a:lnTo>
                <a:lnTo>
                  <a:pt x="5275124" y="0"/>
                </a:lnTo>
                <a:lnTo>
                  <a:pt x="5275124" y="4655297"/>
                </a:lnTo>
                <a:close/>
              </a:path>
            </a:pathLst>
          </a:custGeom>
          <a:blipFill>
            <a:blip r:embed="rId4"/>
            <a:stretch>
              <a:fillRect l="0" t="0" r="0" b="0"/>
            </a:stretch>
          </a:blipFill>
        </p:spPr>
      </p:sp>
      <p:sp>
        <p:nvSpPr>
          <p:cNvPr name="Freeform 7" id="7"/>
          <p:cNvSpPr/>
          <p:nvPr/>
        </p:nvSpPr>
        <p:spPr>
          <a:xfrm flipH="true" flipV="true" rot="0">
            <a:off x="15256058" y="-2196832"/>
            <a:ext cx="4006483" cy="6937633"/>
          </a:xfrm>
          <a:custGeom>
            <a:avLst/>
            <a:gdLst/>
            <a:ahLst/>
            <a:cxnLst/>
            <a:rect r="r" b="b" t="t" l="l"/>
            <a:pathLst>
              <a:path h="6937633" w="4006483">
                <a:moveTo>
                  <a:pt x="4006484" y="6937633"/>
                </a:moveTo>
                <a:lnTo>
                  <a:pt x="0" y="6937633"/>
                </a:lnTo>
                <a:lnTo>
                  <a:pt x="0" y="0"/>
                </a:lnTo>
                <a:lnTo>
                  <a:pt x="4006484" y="0"/>
                </a:lnTo>
                <a:lnTo>
                  <a:pt x="4006484" y="6937633"/>
                </a:lnTo>
                <a:close/>
              </a:path>
            </a:pathLst>
          </a:custGeom>
          <a:blipFill>
            <a:blip r:embed="rId3"/>
            <a:stretch>
              <a:fillRect l="0" t="0" r="0" b="0"/>
            </a:stretch>
          </a:blipFill>
        </p:spPr>
      </p:sp>
      <p:sp>
        <p:nvSpPr>
          <p:cNvPr name="TextBox 8" id="8"/>
          <p:cNvSpPr txBox="true"/>
          <p:nvPr/>
        </p:nvSpPr>
        <p:spPr>
          <a:xfrm rot="0">
            <a:off x="2208241" y="1443598"/>
            <a:ext cx="13047817" cy="1015181"/>
          </a:xfrm>
          <a:prstGeom prst="rect">
            <a:avLst/>
          </a:prstGeom>
        </p:spPr>
        <p:txBody>
          <a:bodyPr anchor="t" rtlCol="false" tIns="0" lIns="0" bIns="0" rIns="0">
            <a:spAutoFit/>
          </a:bodyPr>
          <a:lstStyle/>
          <a:p>
            <a:pPr algn="ctr">
              <a:lnSpc>
                <a:spcPts val="8368"/>
              </a:lnSpc>
            </a:pPr>
            <a:r>
              <a:rPr lang="en-US" sz="5977">
                <a:solidFill>
                  <a:srgbClr val="68267C"/>
                </a:solidFill>
                <a:latin typeface="Playfair Display"/>
                <a:ea typeface="Playfair Display"/>
                <a:cs typeface="Playfair Display"/>
                <a:sym typeface="Playfair Display"/>
              </a:rPr>
              <a:t>THE RETURN AND THE RESILIENCE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4444" r="0" b="-14444"/>
            </a:stretch>
          </a:blipFill>
        </p:spPr>
      </p:sp>
      <p:sp>
        <p:nvSpPr>
          <p:cNvPr name="Freeform 3" id="3"/>
          <p:cNvSpPr/>
          <p:nvPr/>
        </p:nvSpPr>
        <p:spPr>
          <a:xfrm flipH="false" flipV="false" rot="0">
            <a:off x="-1276160" y="5143500"/>
            <a:ext cx="4006483" cy="6937633"/>
          </a:xfrm>
          <a:custGeom>
            <a:avLst/>
            <a:gdLst/>
            <a:ahLst/>
            <a:cxnLst/>
            <a:rect r="r" b="b" t="t" l="l"/>
            <a:pathLst>
              <a:path h="6937633" w="4006483">
                <a:moveTo>
                  <a:pt x="0" y="0"/>
                </a:moveTo>
                <a:lnTo>
                  <a:pt x="4006484" y="0"/>
                </a:lnTo>
                <a:lnTo>
                  <a:pt x="4006484" y="6937633"/>
                </a:lnTo>
                <a:lnTo>
                  <a:pt x="0" y="6937633"/>
                </a:lnTo>
                <a:lnTo>
                  <a:pt x="0" y="0"/>
                </a:lnTo>
                <a:close/>
              </a:path>
            </a:pathLst>
          </a:custGeom>
          <a:blipFill>
            <a:blip r:embed="rId3"/>
            <a:stretch>
              <a:fillRect l="0" t="0" r="0" b="0"/>
            </a:stretch>
          </a:blipFill>
        </p:spPr>
      </p:sp>
      <p:sp>
        <p:nvSpPr>
          <p:cNvPr name="TextBox 4" id="4"/>
          <p:cNvSpPr txBox="true"/>
          <p:nvPr/>
        </p:nvSpPr>
        <p:spPr>
          <a:xfrm rot="0">
            <a:off x="2139852" y="3473624"/>
            <a:ext cx="14008296" cy="4102548"/>
          </a:xfrm>
          <a:prstGeom prst="rect">
            <a:avLst/>
          </a:prstGeom>
        </p:spPr>
        <p:txBody>
          <a:bodyPr anchor="t" rtlCol="false" tIns="0" lIns="0" bIns="0" rIns="0">
            <a:spAutoFit/>
          </a:bodyPr>
          <a:lstStyle/>
          <a:p>
            <a:pPr algn="l">
              <a:lnSpc>
                <a:spcPts val="4649"/>
              </a:lnSpc>
              <a:spcBef>
                <a:spcPct val="0"/>
              </a:spcBef>
            </a:pPr>
            <a:r>
              <a:rPr lang="en-US" sz="3321">
                <a:solidFill>
                  <a:srgbClr val="D94291"/>
                </a:solidFill>
                <a:latin typeface="Crimson Pro"/>
                <a:ea typeface="Crimson Pro"/>
                <a:cs typeface="Crimson Pro"/>
                <a:sym typeface="Crimson Pro"/>
              </a:rPr>
              <a:t>My journey here wasn't a straight line. The financial constraints that shadowed my childhood returned, and I was forced to take a gap year due to lack of fees. It was painful to watch my cohort move on without me. But I refused to stay idle. I moved to Nairobi and took a job in Sales. The streets of Nairobi taught me lessons no lecture hall could—I learned how to handle rejection and the true value of every shilling. I returned to the 2022 cohort not just with fees, but with resilience and professional maturity</a:t>
            </a:r>
          </a:p>
        </p:txBody>
      </p:sp>
      <p:sp>
        <p:nvSpPr>
          <p:cNvPr name="Freeform 5" id="5"/>
          <p:cNvSpPr/>
          <p:nvPr/>
        </p:nvSpPr>
        <p:spPr>
          <a:xfrm flipH="false" flipV="false" rot="-2596378">
            <a:off x="14621738" y="7093789"/>
            <a:ext cx="5275124" cy="4655297"/>
          </a:xfrm>
          <a:custGeom>
            <a:avLst/>
            <a:gdLst/>
            <a:ahLst/>
            <a:cxnLst/>
            <a:rect r="r" b="b" t="t" l="l"/>
            <a:pathLst>
              <a:path h="4655297" w="5275124">
                <a:moveTo>
                  <a:pt x="0" y="0"/>
                </a:moveTo>
                <a:lnTo>
                  <a:pt x="5275124" y="0"/>
                </a:lnTo>
                <a:lnTo>
                  <a:pt x="5275124" y="4655297"/>
                </a:lnTo>
                <a:lnTo>
                  <a:pt x="0" y="4655297"/>
                </a:lnTo>
                <a:lnTo>
                  <a:pt x="0" y="0"/>
                </a:lnTo>
                <a:close/>
              </a:path>
            </a:pathLst>
          </a:custGeom>
          <a:blipFill>
            <a:blip r:embed="rId4"/>
            <a:stretch>
              <a:fillRect l="0" t="0" r="0" b="0"/>
            </a:stretch>
          </a:blipFill>
        </p:spPr>
      </p:sp>
      <p:sp>
        <p:nvSpPr>
          <p:cNvPr name="Freeform 6" id="6"/>
          <p:cNvSpPr/>
          <p:nvPr/>
        </p:nvSpPr>
        <p:spPr>
          <a:xfrm flipH="true" flipV="true" rot="-2596378">
            <a:off x="-1608862" y="-1540623"/>
            <a:ext cx="5275124" cy="4655297"/>
          </a:xfrm>
          <a:custGeom>
            <a:avLst/>
            <a:gdLst/>
            <a:ahLst/>
            <a:cxnLst/>
            <a:rect r="r" b="b" t="t" l="l"/>
            <a:pathLst>
              <a:path h="4655297" w="5275124">
                <a:moveTo>
                  <a:pt x="5275124" y="4655297"/>
                </a:moveTo>
                <a:lnTo>
                  <a:pt x="0" y="4655297"/>
                </a:lnTo>
                <a:lnTo>
                  <a:pt x="0" y="0"/>
                </a:lnTo>
                <a:lnTo>
                  <a:pt x="5275124" y="0"/>
                </a:lnTo>
                <a:lnTo>
                  <a:pt x="5275124" y="4655297"/>
                </a:lnTo>
                <a:close/>
              </a:path>
            </a:pathLst>
          </a:custGeom>
          <a:blipFill>
            <a:blip r:embed="rId4"/>
            <a:stretch>
              <a:fillRect l="0" t="0" r="0" b="0"/>
            </a:stretch>
          </a:blipFill>
        </p:spPr>
      </p:sp>
      <p:sp>
        <p:nvSpPr>
          <p:cNvPr name="Freeform 7" id="7"/>
          <p:cNvSpPr/>
          <p:nvPr/>
        </p:nvSpPr>
        <p:spPr>
          <a:xfrm flipH="true" flipV="true" rot="0">
            <a:off x="15256058" y="-2196832"/>
            <a:ext cx="4006483" cy="6937633"/>
          </a:xfrm>
          <a:custGeom>
            <a:avLst/>
            <a:gdLst/>
            <a:ahLst/>
            <a:cxnLst/>
            <a:rect r="r" b="b" t="t" l="l"/>
            <a:pathLst>
              <a:path h="6937633" w="4006483">
                <a:moveTo>
                  <a:pt x="4006484" y="6937633"/>
                </a:moveTo>
                <a:lnTo>
                  <a:pt x="0" y="6937633"/>
                </a:lnTo>
                <a:lnTo>
                  <a:pt x="0" y="0"/>
                </a:lnTo>
                <a:lnTo>
                  <a:pt x="4006484" y="0"/>
                </a:lnTo>
                <a:lnTo>
                  <a:pt x="4006484" y="6937633"/>
                </a:lnTo>
                <a:close/>
              </a:path>
            </a:pathLst>
          </a:custGeom>
          <a:blipFill>
            <a:blip r:embed="rId3"/>
            <a:stretch>
              <a:fillRect l="0" t="0" r="0" b="0"/>
            </a:stretch>
          </a:blipFill>
        </p:spPr>
      </p:sp>
      <p:sp>
        <p:nvSpPr>
          <p:cNvPr name="TextBox 8" id="8"/>
          <p:cNvSpPr txBox="true"/>
          <p:nvPr/>
        </p:nvSpPr>
        <p:spPr>
          <a:xfrm rot="0">
            <a:off x="2208241" y="1443598"/>
            <a:ext cx="13047817" cy="1015181"/>
          </a:xfrm>
          <a:prstGeom prst="rect">
            <a:avLst/>
          </a:prstGeom>
        </p:spPr>
        <p:txBody>
          <a:bodyPr anchor="t" rtlCol="false" tIns="0" lIns="0" bIns="0" rIns="0">
            <a:spAutoFit/>
          </a:bodyPr>
          <a:lstStyle/>
          <a:p>
            <a:pPr algn="ctr">
              <a:lnSpc>
                <a:spcPts val="8368"/>
              </a:lnSpc>
            </a:pPr>
            <a:r>
              <a:rPr lang="en-US" sz="5977">
                <a:solidFill>
                  <a:srgbClr val="68267C"/>
                </a:solidFill>
                <a:latin typeface="Playfair Display"/>
                <a:ea typeface="Playfair Display"/>
                <a:cs typeface="Playfair Display"/>
                <a:sym typeface="Playfair Display"/>
              </a:rPr>
              <a:t> CHALLENGES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4444" r="0" b="-14444"/>
            </a:stretch>
          </a:blipFill>
        </p:spPr>
      </p:sp>
      <p:sp>
        <p:nvSpPr>
          <p:cNvPr name="Freeform 3" id="3"/>
          <p:cNvSpPr/>
          <p:nvPr/>
        </p:nvSpPr>
        <p:spPr>
          <a:xfrm flipH="false" flipV="false" rot="0">
            <a:off x="-1276160" y="5143500"/>
            <a:ext cx="4006483" cy="6937633"/>
          </a:xfrm>
          <a:custGeom>
            <a:avLst/>
            <a:gdLst/>
            <a:ahLst/>
            <a:cxnLst/>
            <a:rect r="r" b="b" t="t" l="l"/>
            <a:pathLst>
              <a:path h="6937633" w="4006483">
                <a:moveTo>
                  <a:pt x="0" y="0"/>
                </a:moveTo>
                <a:lnTo>
                  <a:pt x="4006484" y="0"/>
                </a:lnTo>
                <a:lnTo>
                  <a:pt x="4006484" y="6937633"/>
                </a:lnTo>
                <a:lnTo>
                  <a:pt x="0" y="6937633"/>
                </a:lnTo>
                <a:lnTo>
                  <a:pt x="0" y="0"/>
                </a:lnTo>
                <a:close/>
              </a:path>
            </a:pathLst>
          </a:custGeom>
          <a:blipFill>
            <a:blip r:embed="rId3"/>
            <a:stretch>
              <a:fillRect l="0" t="0" r="0" b="0"/>
            </a:stretch>
          </a:blipFill>
        </p:spPr>
      </p:sp>
      <p:sp>
        <p:nvSpPr>
          <p:cNvPr name="TextBox 4" id="4"/>
          <p:cNvSpPr txBox="true"/>
          <p:nvPr/>
        </p:nvSpPr>
        <p:spPr>
          <a:xfrm rot="0">
            <a:off x="3455010" y="1423108"/>
            <a:ext cx="10966716" cy="819333"/>
          </a:xfrm>
          <a:prstGeom prst="rect">
            <a:avLst/>
          </a:prstGeom>
        </p:spPr>
        <p:txBody>
          <a:bodyPr anchor="t" rtlCol="false" tIns="0" lIns="0" bIns="0" rIns="0">
            <a:spAutoFit/>
          </a:bodyPr>
          <a:lstStyle/>
          <a:p>
            <a:pPr algn="ctr">
              <a:lnSpc>
                <a:spcPts val="6767"/>
              </a:lnSpc>
            </a:pPr>
            <a:r>
              <a:rPr lang="en-US" sz="4833">
                <a:solidFill>
                  <a:srgbClr val="68267C"/>
                </a:solidFill>
                <a:latin typeface="Playfair Display"/>
                <a:ea typeface="Playfair Display"/>
                <a:cs typeface="Playfair Display"/>
                <a:sym typeface="Playfair Display"/>
              </a:rPr>
              <a:t>THE BLUEPRINT OF TOMORROW</a:t>
            </a:r>
          </a:p>
        </p:txBody>
      </p:sp>
      <p:sp>
        <p:nvSpPr>
          <p:cNvPr name="Freeform 5" id="5"/>
          <p:cNvSpPr/>
          <p:nvPr/>
        </p:nvSpPr>
        <p:spPr>
          <a:xfrm flipH="false" flipV="false" rot="-2596378">
            <a:off x="14621738" y="7093789"/>
            <a:ext cx="5275124" cy="4655297"/>
          </a:xfrm>
          <a:custGeom>
            <a:avLst/>
            <a:gdLst/>
            <a:ahLst/>
            <a:cxnLst/>
            <a:rect r="r" b="b" t="t" l="l"/>
            <a:pathLst>
              <a:path h="4655297" w="5275124">
                <a:moveTo>
                  <a:pt x="0" y="0"/>
                </a:moveTo>
                <a:lnTo>
                  <a:pt x="5275124" y="0"/>
                </a:lnTo>
                <a:lnTo>
                  <a:pt x="5275124" y="4655297"/>
                </a:lnTo>
                <a:lnTo>
                  <a:pt x="0" y="4655297"/>
                </a:lnTo>
                <a:lnTo>
                  <a:pt x="0" y="0"/>
                </a:lnTo>
                <a:close/>
              </a:path>
            </a:pathLst>
          </a:custGeom>
          <a:blipFill>
            <a:blip r:embed="rId4"/>
            <a:stretch>
              <a:fillRect l="0" t="0" r="0" b="0"/>
            </a:stretch>
          </a:blipFill>
        </p:spPr>
      </p:sp>
      <p:sp>
        <p:nvSpPr>
          <p:cNvPr name="TextBox 6" id="6"/>
          <p:cNvSpPr txBox="true"/>
          <p:nvPr/>
        </p:nvSpPr>
        <p:spPr>
          <a:xfrm rot="0">
            <a:off x="2730324" y="2474779"/>
            <a:ext cx="12635380" cy="6783521"/>
          </a:xfrm>
          <a:prstGeom prst="rect">
            <a:avLst/>
          </a:prstGeom>
        </p:spPr>
        <p:txBody>
          <a:bodyPr anchor="t" rtlCol="false" tIns="0" lIns="0" bIns="0" rIns="0">
            <a:spAutoFit/>
          </a:bodyPr>
          <a:lstStyle/>
          <a:p>
            <a:pPr algn="ctr">
              <a:lnSpc>
                <a:spcPts val="5987"/>
              </a:lnSpc>
              <a:spcBef>
                <a:spcPct val="0"/>
              </a:spcBef>
            </a:pPr>
            <a:r>
              <a:rPr lang="en-US" sz="4277">
                <a:solidFill>
                  <a:srgbClr val="D94291"/>
                </a:solidFill>
                <a:latin typeface="Crimson Pro"/>
                <a:ea typeface="Crimson Pro"/>
                <a:cs typeface="Crimson Pro"/>
                <a:sym typeface="Crimson Pro"/>
              </a:rPr>
              <a:t>Looking ahead, my compass points toward the intersection of technology and human experience. My professional goal is to work with Safaricom to solve large-scale problems, while also establishing myself as a specialized UI/UX Designer. Personally, I aim to achieve financial freedom through land ownership a legacy I can pass down. Ultimately, I want my story to be a blueprint for other village girls, proving that you can start in the village, take a gap year, and still finish the race strong</a:t>
            </a:r>
          </a:p>
        </p:txBody>
      </p:sp>
      <p:sp>
        <p:nvSpPr>
          <p:cNvPr name="Freeform 7" id="7"/>
          <p:cNvSpPr/>
          <p:nvPr/>
        </p:nvSpPr>
        <p:spPr>
          <a:xfrm flipH="true" flipV="true" rot="-2596378">
            <a:off x="-1608862" y="-1540623"/>
            <a:ext cx="5275124" cy="4655297"/>
          </a:xfrm>
          <a:custGeom>
            <a:avLst/>
            <a:gdLst/>
            <a:ahLst/>
            <a:cxnLst/>
            <a:rect r="r" b="b" t="t" l="l"/>
            <a:pathLst>
              <a:path h="4655297" w="5275124">
                <a:moveTo>
                  <a:pt x="5275124" y="4655297"/>
                </a:moveTo>
                <a:lnTo>
                  <a:pt x="0" y="4655297"/>
                </a:lnTo>
                <a:lnTo>
                  <a:pt x="0" y="0"/>
                </a:lnTo>
                <a:lnTo>
                  <a:pt x="5275124" y="0"/>
                </a:lnTo>
                <a:lnTo>
                  <a:pt x="5275124" y="4655297"/>
                </a:lnTo>
                <a:close/>
              </a:path>
            </a:pathLst>
          </a:custGeom>
          <a:blipFill>
            <a:blip r:embed="rId4"/>
            <a:stretch>
              <a:fillRect l="0" t="0" r="0" b="0"/>
            </a:stretch>
          </a:blipFill>
        </p:spPr>
      </p:sp>
      <p:sp>
        <p:nvSpPr>
          <p:cNvPr name="Freeform 8" id="8"/>
          <p:cNvSpPr/>
          <p:nvPr/>
        </p:nvSpPr>
        <p:spPr>
          <a:xfrm flipH="true" flipV="true" rot="0">
            <a:off x="15256058" y="-2196832"/>
            <a:ext cx="4006483" cy="6937633"/>
          </a:xfrm>
          <a:custGeom>
            <a:avLst/>
            <a:gdLst/>
            <a:ahLst/>
            <a:cxnLst/>
            <a:rect r="r" b="b" t="t" l="l"/>
            <a:pathLst>
              <a:path h="6937633" w="4006483">
                <a:moveTo>
                  <a:pt x="4006484" y="6937633"/>
                </a:moveTo>
                <a:lnTo>
                  <a:pt x="0" y="6937633"/>
                </a:lnTo>
                <a:lnTo>
                  <a:pt x="0" y="0"/>
                </a:lnTo>
                <a:lnTo>
                  <a:pt x="4006484" y="0"/>
                </a:lnTo>
                <a:lnTo>
                  <a:pt x="4006484" y="6937633"/>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4444" r="0" b="-14444"/>
            </a:stretch>
          </a:blipFill>
        </p:spPr>
      </p:sp>
      <p:sp>
        <p:nvSpPr>
          <p:cNvPr name="Freeform 3" id="3"/>
          <p:cNvSpPr/>
          <p:nvPr/>
        </p:nvSpPr>
        <p:spPr>
          <a:xfrm flipH="false" flipV="false" rot="0">
            <a:off x="-1276160" y="5143500"/>
            <a:ext cx="4006483" cy="6937633"/>
          </a:xfrm>
          <a:custGeom>
            <a:avLst/>
            <a:gdLst/>
            <a:ahLst/>
            <a:cxnLst/>
            <a:rect r="r" b="b" t="t" l="l"/>
            <a:pathLst>
              <a:path h="6937633" w="4006483">
                <a:moveTo>
                  <a:pt x="0" y="0"/>
                </a:moveTo>
                <a:lnTo>
                  <a:pt x="4006484" y="0"/>
                </a:lnTo>
                <a:lnTo>
                  <a:pt x="4006484" y="6937633"/>
                </a:lnTo>
                <a:lnTo>
                  <a:pt x="0" y="6937633"/>
                </a:lnTo>
                <a:lnTo>
                  <a:pt x="0" y="0"/>
                </a:lnTo>
                <a:close/>
              </a:path>
            </a:pathLst>
          </a:custGeom>
          <a:blipFill>
            <a:blip r:embed="rId3"/>
            <a:stretch>
              <a:fillRect l="0" t="0" r="0" b="0"/>
            </a:stretch>
          </a:blipFill>
        </p:spPr>
      </p:sp>
      <p:sp>
        <p:nvSpPr>
          <p:cNvPr name="TextBox 4" id="4"/>
          <p:cNvSpPr txBox="true"/>
          <p:nvPr/>
        </p:nvSpPr>
        <p:spPr>
          <a:xfrm rot="0">
            <a:off x="2729988" y="4030136"/>
            <a:ext cx="12828023" cy="2189594"/>
          </a:xfrm>
          <a:prstGeom prst="rect">
            <a:avLst/>
          </a:prstGeom>
        </p:spPr>
        <p:txBody>
          <a:bodyPr anchor="t" rtlCol="false" tIns="0" lIns="0" bIns="0" rIns="0">
            <a:spAutoFit/>
          </a:bodyPr>
          <a:lstStyle/>
          <a:p>
            <a:pPr algn="ctr">
              <a:lnSpc>
                <a:spcPts val="17913"/>
              </a:lnSpc>
            </a:pPr>
            <a:r>
              <a:rPr lang="en-US" sz="12795">
                <a:solidFill>
                  <a:srgbClr val="68267C"/>
                </a:solidFill>
                <a:latin typeface="Playfair Display"/>
                <a:ea typeface="Playfair Display"/>
                <a:cs typeface="Playfair Display"/>
                <a:sym typeface="Playfair Display"/>
              </a:rPr>
              <a:t>THANK YOU</a:t>
            </a:r>
          </a:p>
        </p:txBody>
      </p:sp>
      <p:sp>
        <p:nvSpPr>
          <p:cNvPr name="Freeform 5" id="5"/>
          <p:cNvSpPr/>
          <p:nvPr/>
        </p:nvSpPr>
        <p:spPr>
          <a:xfrm flipH="false" flipV="false" rot="-2596378">
            <a:off x="14621738" y="7093789"/>
            <a:ext cx="5275124" cy="4655297"/>
          </a:xfrm>
          <a:custGeom>
            <a:avLst/>
            <a:gdLst/>
            <a:ahLst/>
            <a:cxnLst/>
            <a:rect r="r" b="b" t="t" l="l"/>
            <a:pathLst>
              <a:path h="4655297" w="5275124">
                <a:moveTo>
                  <a:pt x="0" y="0"/>
                </a:moveTo>
                <a:lnTo>
                  <a:pt x="5275124" y="0"/>
                </a:lnTo>
                <a:lnTo>
                  <a:pt x="5275124" y="4655297"/>
                </a:lnTo>
                <a:lnTo>
                  <a:pt x="0" y="4655297"/>
                </a:lnTo>
                <a:lnTo>
                  <a:pt x="0" y="0"/>
                </a:lnTo>
                <a:close/>
              </a:path>
            </a:pathLst>
          </a:custGeom>
          <a:blipFill>
            <a:blip r:embed="rId4"/>
            <a:stretch>
              <a:fillRect l="0" t="0" r="0" b="0"/>
            </a:stretch>
          </a:blipFill>
        </p:spPr>
      </p:sp>
      <p:sp>
        <p:nvSpPr>
          <p:cNvPr name="Freeform 6" id="6"/>
          <p:cNvSpPr/>
          <p:nvPr/>
        </p:nvSpPr>
        <p:spPr>
          <a:xfrm flipH="true" flipV="true" rot="-2596378">
            <a:off x="-1608862" y="-1540623"/>
            <a:ext cx="5275124" cy="4655297"/>
          </a:xfrm>
          <a:custGeom>
            <a:avLst/>
            <a:gdLst/>
            <a:ahLst/>
            <a:cxnLst/>
            <a:rect r="r" b="b" t="t" l="l"/>
            <a:pathLst>
              <a:path h="4655297" w="5275124">
                <a:moveTo>
                  <a:pt x="5275124" y="4655297"/>
                </a:moveTo>
                <a:lnTo>
                  <a:pt x="0" y="4655297"/>
                </a:lnTo>
                <a:lnTo>
                  <a:pt x="0" y="0"/>
                </a:lnTo>
                <a:lnTo>
                  <a:pt x="5275124" y="0"/>
                </a:lnTo>
                <a:lnTo>
                  <a:pt x="5275124" y="4655297"/>
                </a:lnTo>
                <a:close/>
              </a:path>
            </a:pathLst>
          </a:custGeom>
          <a:blipFill>
            <a:blip r:embed="rId4"/>
            <a:stretch>
              <a:fillRect l="0" t="0" r="0" b="0"/>
            </a:stretch>
          </a:blipFill>
        </p:spPr>
      </p:sp>
      <p:sp>
        <p:nvSpPr>
          <p:cNvPr name="Freeform 7" id="7"/>
          <p:cNvSpPr/>
          <p:nvPr/>
        </p:nvSpPr>
        <p:spPr>
          <a:xfrm flipH="true" flipV="true" rot="0">
            <a:off x="15256058" y="-2196832"/>
            <a:ext cx="4006483" cy="6937633"/>
          </a:xfrm>
          <a:custGeom>
            <a:avLst/>
            <a:gdLst/>
            <a:ahLst/>
            <a:cxnLst/>
            <a:rect r="r" b="b" t="t" l="l"/>
            <a:pathLst>
              <a:path h="6937633" w="4006483">
                <a:moveTo>
                  <a:pt x="4006484" y="6937633"/>
                </a:moveTo>
                <a:lnTo>
                  <a:pt x="0" y="6937633"/>
                </a:lnTo>
                <a:lnTo>
                  <a:pt x="0" y="0"/>
                </a:lnTo>
                <a:lnTo>
                  <a:pt x="4006484" y="0"/>
                </a:lnTo>
                <a:lnTo>
                  <a:pt x="4006484" y="6937633"/>
                </a:lnTo>
                <a:close/>
              </a:path>
            </a:pathLst>
          </a:custGeom>
          <a:blipFill>
            <a:blip r:embed="rId3"/>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DAG7g7McEm8</dc:identifier>
  <dcterms:modified xsi:type="dcterms:W3CDTF">2011-08-01T06:04:30Z</dcterms:modified>
  <cp:revision>1</cp:revision>
  <dc:title>Purple Pink Watercolor Floral Presentation</dc:title>
</cp:coreProperties>
</file>